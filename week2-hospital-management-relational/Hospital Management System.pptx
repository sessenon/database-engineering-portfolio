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20"/>
  </p:notesMasterIdLst>
  <p:handoutMasterIdLst>
    <p:handoutMasterId r:id="rId21"/>
  </p:handoutMasterIdLst>
  <p:sldIdLst>
    <p:sldId id="278" r:id="rId5"/>
    <p:sldId id="282" r:id="rId6"/>
    <p:sldId id="271" r:id="rId7"/>
    <p:sldId id="284" r:id="rId8"/>
    <p:sldId id="285" r:id="rId9"/>
    <p:sldId id="286" r:id="rId10"/>
    <p:sldId id="293" r:id="rId11"/>
    <p:sldId id="294" r:id="rId12"/>
    <p:sldId id="287" r:id="rId13"/>
    <p:sldId id="295" r:id="rId14"/>
    <p:sldId id="261" r:id="rId15"/>
    <p:sldId id="288" r:id="rId16"/>
    <p:sldId id="296" r:id="rId17"/>
    <p:sldId id="266" r:id="rId18"/>
    <p:sldId id="29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750" autoAdjust="0"/>
  </p:normalViewPr>
  <p:slideViewPr>
    <p:cSldViewPr snapToGrid="0">
      <p:cViewPr>
        <p:scale>
          <a:sx n="76" d="100"/>
          <a:sy n="76" d="100"/>
        </p:scale>
        <p:origin x="296" y="-156"/>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5/24/2026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5/24/2026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603191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introduction and quick overview of the project. Once created, the Hospital Management System is going to manage the operations at the hospital. The following operations will be streamlined through the DBMS, including patient care, staff coordination, appointment scheduling, treatment records, and billing procedures. In the next slides, I will elaborate on the steps I took to develop this system, showing the process of visualizing the relationships between entities using ER Diagrams, creating a database in Lucid Chart, normalizing data, and using query language, specifically SQL, to manage the database.  </a:t>
            </a:r>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433056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clearly visualize the relationships between the data tables, I use Lucid Chart. This tool is effective in creating ERDs using crows-foot notation to show relations between tables. In this image, you can see many different kinds of relational data tables that can exist. One-to-one, in the case of the hospital management system will be a patient to a medical bill. The patient has exactly one bill. </a:t>
            </a:r>
          </a:p>
        </p:txBody>
      </p:sp>
      <p:sp>
        <p:nvSpPr>
          <p:cNvPr id="4" name="Slide Number Placeholder 3"/>
          <p:cNvSpPr>
            <a:spLocks noGrp="1"/>
          </p:cNvSpPr>
          <p:nvPr>
            <p:ph type="sldNum" sz="quarter" idx="5"/>
          </p:nvPr>
        </p:nvSpPr>
        <p:spPr/>
        <p:txBody>
          <a:bodyPr/>
          <a:lstStyle/>
          <a:p>
            <a:fld id="{E7AF00E9-A49D-4007-B3B9-A3783809E505}" type="slidenum">
              <a:rPr lang="en-US" smtClean="0"/>
              <a:t>6</a:t>
            </a:fld>
            <a:endParaRPr lang="en-US" dirty="0"/>
          </a:p>
        </p:txBody>
      </p:sp>
    </p:spTree>
    <p:extLst>
      <p:ext uri="{BB962C8B-B14F-4D97-AF65-F5344CB8AC3E}">
        <p14:creationId xmlns:p14="http://schemas.microsoft.com/office/powerpoint/2010/main" val="3070488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entities each map to a real operational area of the hospital. The cardinalities show that one patient can have many appointments, many treatments and many billing records, while one staff member can conduct many appointments.</a:t>
            </a:r>
          </a:p>
        </p:txBody>
      </p:sp>
      <p:sp>
        <p:nvSpPr>
          <p:cNvPr id="4" name="Slide Number Placeholder 3"/>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3403976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4272092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the database schema, where the appropriate data type is assigned to an attribute. Also, assigned Primary and Foreign Keys are linked to the different tables. These keys are unique identifiers for each record. </a:t>
            </a:r>
          </a:p>
        </p:txBody>
      </p:sp>
      <p:sp>
        <p:nvSpPr>
          <p:cNvPr id="4" name="Slide Number Placeholder 3"/>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2134019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10</a:t>
            </a:fld>
            <a:endParaRPr lang="en-US" dirty="0"/>
          </a:p>
        </p:txBody>
      </p:sp>
    </p:spTree>
    <p:extLst>
      <p:ext uri="{BB962C8B-B14F-4D97-AF65-F5344CB8AC3E}">
        <p14:creationId xmlns:p14="http://schemas.microsoft.com/office/powerpoint/2010/main" val="2470643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applied 3 stages of normalization to the data. </a:t>
            </a:r>
          </a:p>
          <a:p>
            <a:r>
              <a:rPr lang="en-US" dirty="0"/>
              <a:t>1NF, enforces atomicity. One value per cell and a composite primary key is assigned.</a:t>
            </a:r>
          </a:p>
          <a:p>
            <a:r>
              <a:rPr lang="en-US" dirty="0"/>
              <a:t>At 2NF, partial dependencies are removed. Every non-key attribute is dependent on the whole primary key. Ex. Staff Name, &amp; Specialization must depend on </a:t>
            </a:r>
            <a:r>
              <a:rPr lang="en-US" dirty="0" err="1"/>
              <a:t>StaffID</a:t>
            </a:r>
            <a:r>
              <a:rPr lang="en-US" dirty="0"/>
              <a:t>. </a:t>
            </a:r>
          </a:p>
          <a:p>
            <a:r>
              <a:rPr lang="en-US" dirty="0"/>
              <a:t>3NF, removes the transitive dependency. Example, is specialization depending on role in the medical staff table in 2NF. This was extracted in </a:t>
            </a:r>
            <a:r>
              <a:rPr lang="en-US" dirty="0" err="1"/>
              <a:t>Staffrole</a:t>
            </a:r>
            <a:r>
              <a:rPr lang="en-US" dirty="0"/>
              <a:t> table, in 3NF.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this slide, we can see how the data table was normalized for a Hospital Operations Management System, using the 1NF – 3NF process.</a:t>
            </a:r>
          </a:p>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12</a:t>
            </a:fld>
            <a:endParaRPr lang="en-US" dirty="0"/>
          </a:p>
        </p:txBody>
      </p:sp>
    </p:spTree>
    <p:extLst>
      <p:ext uri="{BB962C8B-B14F-4D97-AF65-F5344CB8AC3E}">
        <p14:creationId xmlns:p14="http://schemas.microsoft.com/office/powerpoint/2010/main" val="16130986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13</a:t>
            </a:fld>
            <a:endParaRPr lang="en-US" dirty="0"/>
          </a:p>
        </p:txBody>
      </p:sp>
    </p:spTree>
    <p:extLst>
      <p:ext uri="{BB962C8B-B14F-4D97-AF65-F5344CB8AC3E}">
        <p14:creationId xmlns:p14="http://schemas.microsoft.com/office/powerpoint/2010/main" val="13763513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eight SQL operations. All queries were run on </a:t>
            </a:r>
            <a:r>
              <a:rPr lang="en-US" dirty="0" err="1"/>
              <a:t>TiDB</a:t>
            </a:r>
            <a:r>
              <a:rPr lang="en-US" dirty="0"/>
              <a:t> Cloud Serverless, a free MySQL-compatible cloud database.</a:t>
            </a:r>
          </a:p>
          <a:p>
            <a:endParaRPr lang="en-US" dirty="0"/>
          </a:p>
          <a:p>
            <a:r>
              <a:rPr lang="en-US" dirty="0"/>
              <a:t>Single Table Select:</a:t>
            </a:r>
          </a:p>
          <a:p>
            <a:r>
              <a:rPr lang="en-US" dirty="0"/>
              <a:t>I used this statement to select all columns from the Patients table in the hospital management database, and another to Select patients where </a:t>
            </a:r>
            <a:r>
              <a:rPr lang="en-US" dirty="0" err="1"/>
              <a:t>Current_Conditions</a:t>
            </a:r>
            <a:r>
              <a:rPr lang="en-US" dirty="0"/>
              <a:t> is 'Fever’</a:t>
            </a:r>
          </a:p>
          <a:p>
            <a:endParaRPr lang="en-US" dirty="0"/>
          </a:p>
          <a:p>
            <a:r>
              <a:rPr lang="en-US" dirty="0"/>
              <a:t>Multiple Table Select and Joins:</a:t>
            </a:r>
          </a:p>
          <a:p>
            <a:r>
              <a:rPr lang="en-US" dirty="0"/>
              <a:t>Select patient names and their appointment dates and purpose</a:t>
            </a:r>
          </a:p>
          <a:p>
            <a:r>
              <a:rPr lang="en-US" dirty="0"/>
              <a:t>And Joins, joins Patients and Appointments on PK </a:t>
            </a:r>
            <a:r>
              <a:rPr lang="en-US" dirty="0" err="1"/>
              <a:t>Patient_ID</a:t>
            </a:r>
            <a:endParaRPr lang="en-US" dirty="0"/>
          </a:p>
          <a:p>
            <a:endParaRPr lang="en-US" dirty="0"/>
          </a:p>
          <a:p>
            <a:r>
              <a:rPr lang="en-US" dirty="0"/>
              <a:t>WHERE CLAUSE:</a:t>
            </a:r>
          </a:p>
          <a:p>
            <a:r>
              <a:rPr lang="en-US" dirty="0"/>
              <a:t>I used a where clause to retrieve data that fits the condition, "Pending.“</a:t>
            </a:r>
          </a:p>
          <a:p>
            <a:endParaRPr lang="en-US" dirty="0"/>
          </a:p>
          <a:p>
            <a:endParaRPr lang="en-US" dirty="0"/>
          </a:p>
          <a:p>
            <a:r>
              <a:rPr lang="en-US" dirty="0"/>
              <a:t>INSERT STATEMENT:</a:t>
            </a:r>
          </a:p>
          <a:p>
            <a:r>
              <a:rPr lang="en-US" dirty="0"/>
              <a:t>This statement was used to insert two new records into the data table, Medical Staff.</a:t>
            </a:r>
          </a:p>
          <a:p>
            <a:endParaRPr lang="en-US" dirty="0"/>
          </a:p>
          <a:p>
            <a:r>
              <a:rPr lang="en-US" dirty="0"/>
              <a:t>UPDATE STATEMENT</a:t>
            </a:r>
          </a:p>
          <a:p>
            <a:r>
              <a:rPr lang="en-US" dirty="0"/>
              <a:t>This statement was used to update the table Patients by adding a new record. </a:t>
            </a:r>
          </a:p>
          <a:p>
            <a:endParaRPr lang="en-US" dirty="0"/>
          </a:p>
          <a:p>
            <a:r>
              <a:rPr lang="en-US" dirty="0"/>
              <a:t>DELETE STATEMENT</a:t>
            </a:r>
          </a:p>
          <a:p>
            <a:r>
              <a:rPr lang="en-US" dirty="0"/>
              <a:t>This statement was used to delete records from the Medical Staff table that had specific </a:t>
            </a:r>
            <a:r>
              <a:rPr lang="en-US" dirty="0" err="1"/>
              <a:t>staff_IDS</a:t>
            </a: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Hospital Management System was built on data integrity, efficiency, and scalability. Normalizing to 3NF across five tables eliminates redundancy and data anomalies. A change to any record only needs to be made in one place. Foreign keys enforce referential integrity automatically at the database level, and JOIN operations allow complex reporting in a single query. The schema also scales cleanly; new modules like pharmacy or insurance can be added as separate tables without touching existing ones, keeping performance predictable as the system grows.</a:t>
            </a:r>
          </a:p>
        </p:txBody>
      </p:sp>
      <p:sp>
        <p:nvSpPr>
          <p:cNvPr id="4" name="Slide Number Placeholder 3"/>
          <p:cNvSpPr>
            <a:spLocks noGrp="1"/>
          </p:cNvSpPr>
          <p:nvPr>
            <p:ph type="sldNum" sz="quarter" idx="5"/>
          </p:nvPr>
        </p:nvSpPr>
        <p:spPr/>
        <p:txBody>
          <a:bodyPr/>
          <a:lstStyle/>
          <a:p>
            <a:fld id="{E7AF00E9-A49D-4007-B3B9-A3783809E505}" type="slidenum">
              <a:rPr lang="en-US" smtClean="0"/>
              <a:t>15</a:t>
            </a:fld>
            <a:endParaRPr lang="en-US" dirty="0"/>
          </a:p>
        </p:txBody>
      </p:sp>
    </p:spTree>
    <p:extLst>
      <p:ext uri="{BB962C8B-B14F-4D97-AF65-F5344CB8AC3E}">
        <p14:creationId xmlns:p14="http://schemas.microsoft.com/office/powerpoint/2010/main" val="4247357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550863" y="4045464"/>
            <a:ext cx="11115355" cy="2286000"/>
          </a:xfrm>
        </p:spPr>
        <p:txBody>
          <a:bodyPr anchor="ctr">
            <a:noAutofit/>
          </a:bodyPr>
          <a:lstStyle>
            <a:lvl1pPr algn="l">
              <a:defRPr sz="5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0" y="4594"/>
            <a:ext cx="12192000" cy="3771878"/>
          </a:xfrm>
        </p:spPr>
        <p:txBody>
          <a:bodyPr>
            <a:noAutofit/>
          </a:bodyPr>
          <a:lstStyle>
            <a:lvl1pPr marL="0" indent="0" algn="ctr">
              <a:buNone/>
              <a:defRPr sz="2000"/>
            </a:lvl1pPr>
          </a:lstStyle>
          <a:p>
            <a:r>
              <a:rPr lang="en-US" dirty="0"/>
              <a:t>Click icon to insert picture</a:t>
            </a:r>
          </a:p>
        </p:txBody>
      </p:sp>
      <p:sp>
        <p:nvSpPr>
          <p:cNvPr id="7" name="Oval 6">
            <a:extLst>
              <a:ext uri="{FF2B5EF4-FFF2-40B4-BE49-F238E27FC236}">
                <a16:creationId xmlns:a16="http://schemas.microsoft.com/office/drawing/2014/main" id="{57BF9F63-86BE-5515-AD3C-59481B3FF4B4}"/>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673299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87663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 sub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96D26C0-4AFC-33CC-99BE-317E9A844352}"/>
              </a:ext>
            </a:extLst>
          </p:cNvPr>
          <p:cNvSpPr>
            <a:spLocks noGrp="1"/>
          </p:cNvSpPr>
          <p:nvPr>
            <p:ph type="pic" sz="quarter" idx="13" hasCustomPrompt="1"/>
          </p:nvPr>
        </p:nvSpPr>
        <p:spPr>
          <a:xfrm>
            <a:off x="0" y="0"/>
            <a:ext cx="12192000" cy="6858000"/>
          </a:xfrm>
        </p:spPr>
        <p:txBody>
          <a:bodyPr/>
          <a:lstStyle>
            <a:lvl1pPr marL="0" indent="0" algn="ctr">
              <a:buNone/>
              <a:defRPr sz="2000"/>
            </a:lvl1pPr>
          </a:lstStyle>
          <a:p>
            <a:r>
              <a:rPr lang="en-US" dirty="0"/>
              <a:t>Click icon to insert picture</a:t>
            </a:r>
          </a:p>
        </p:txBody>
      </p:sp>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376680"/>
            <a:ext cx="9144000" cy="2286000"/>
          </a:xfrm>
        </p:spPr>
        <p:txBody>
          <a:bodyPr anchor="b">
            <a:noAutofit/>
          </a:bodyPr>
          <a:lstStyle>
            <a:lvl1pPr algn="ctr">
              <a:defRPr sz="54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799840"/>
            <a:ext cx="9144000" cy="2286000"/>
          </a:xfrm>
        </p:spPr>
        <p:txBody>
          <a:bodyPr>
            <a:no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606994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19299829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a:t>Click icon to add picture</a:t>
            </a:r>
            <a:endParaRPr lang="en-US" dirty="0"/>
          </a:p>
        </p:txBody>
      </p:sp>
      <p:grpSp>
        <p:nvGrpSpPr>
          <p:cNvPr id="4" name="Group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reeform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46747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7446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1" r:id="rId15"/>
    <p:sldLayoutId id="2147483722" r:id="rId16"/>
    <p:sldLayoutId id="2147483723" r:id="rId17"/>
    <p:sldLayoutId id="2147483724" r:id="rId18"/>
    <p:sldLayoutId id="2147483728" r:id="rId19"/>
    <p:sldLayoutId id="2147483729" r:id="rId20"/>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hyperlink" Target="https://creately.com/guides/cardinality-symbol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hyperlink" Target="https://www.ibm.com/think/topics/database-normalization" TargetMode="External"/><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10.jpg"/><Relationship Id="rId5" Type="http://schemas.openxmlformats.org/officeDocument/2006/relationships/hyperlink" Target="https://www.w3schools.com/sql/sql_intro.asp" TargetMode="External"/><Relationship Id="rId4" Type="http://schemas.openxmlformats.org/officeDocument/2006/relationships/hyperlink" Target="https://creately.com/guides/cardinality-symbol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noFill/>
        </p:spPr>
        <p:txBody>
          <a:bodyPr anchor="ctr">
            <a:noAutofit/>
          </a:bodyPr>
          <a:lstStyle/>
          <a:p>
            <a:r>
              <a:rPr lang="en-US" b="1" i="0" dirty="0">
                <a:effectLst/>
                <a:latin typeface="Lato" panose="020F0502020204030203" pitchFamily="34" charset="0"/>
              </a:rPr>
              <a:t>Hospital Management System</a:t>
            </a:r>
            <a:br>
              <a:rPr lang="en-US" b="1" i="0" dirty="0">
                <a:effectLst/>
                <a:latin typeface="Lato" panose="020F0502020204030203" pitchFamily="34" charset="0"/>
              </a:rPr>
            </a:br>
            <a:br>
              <a:rPr lang="en-US" b="1" i="0" dirty="0">
                <a:effectLst/>
                <a:latin typeface="Lato" panose="020F0502020204030203" pitchFamily="34" charset="0"/>
              </a:rPr>
            </a:br>
            <a:br>
              <a:rPr lang="en-US" b="1" i="0" dirty="0">
                <a:effectLst/>
                <a:latin typeface="Lato" panose="020F0502020204030203" pitchFamily="34" charset="0"/>
              </a:rPr>
            </a:br>
            <a:r>
              <a:rPr lang="en-US" sz="2000" b="1" i="0" dirty="0">
                <a:effectLst/>
                <a:latin typeface="Lato" panose="020F0502020204030203" pitchFamily="34" charset="0"/>
              </a:rPr>
              <a:t>Presentation by: Turvo</a:t>
            </a:r>
            <a:r>
              <a:rPr lang="en-US" sz="2000" b="1" dirty="0">
                <a:latin typeface="Lato" panose="020F0502020204030203" pitchFamily="34" charset="0"/>
              </a:rPr>
              <a:t>n Al Weah</a:t>
            </a:r>
            <a:endParaRPr lang="en-US" dirty="0"/>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p:pic>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p:txBody>
          <a:bodyPr>
            <a:normAutofit/>
          </a:bodyPr>
          <a:lstStyle/>
          <a:p>
            <a:r>
              <a:rPr lang="en-US" dirty="0"/>
              <a:t>Introduction</a:t>
            </a:r>
          </a:p>
          <a:p>
            <a:r>
              <a:rPr lang="en-US" dirty="0"/>
              <a:t>Development of ER Diagram</a:t>
            </a:r>
          </a:p>
          <a:p>
            <a:r>
              <a:rPr lang="en-US" dirty="0"/>
              <a:t>Database Creation</a:t>
            </a:r>
          </a:p>
          <a:p>
            <a:r>
              <a:rPr lang="en-US" dirty="0"/>
              <a:t>Normalization Process</a:t>
            </a:r>
          </a:p>
          <a:p>
            <a:r>
              <a:rPr lang="en-US" dirty="0"/>
              <a:t>Data Manipulation Using SQL Queries</a:t>
            </a:r>
          </a:p>
          <a:p>
            <a:r>
              <a:rPr lang="en-US" dirty="0" err="1"/>
              <a:t>Conculsion</a:t>
            </a:r>
            <a:r>
              <a:rPr lang="en-US" dirty="0"/>
              <a:t> </a:t>
            </a:r>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noFill/>
        </p:spPr>
        <p:txBody>
          <a:bodyPr anchor="ctr"/>
          <a:lstStyle/>
          <a:p>
            <a:r>
              <a:rPr lang="en-US" dirty="0"/>
              <a:t>Introduction</a:t>
            </a:r>
          </a:p>
        </p:txBody>
      </p:sp>
      <p:pic>
        <p:nvPicPr>
          <p:cNvPr id="11" name="Picture Placeholder 15" descr="Data points digital background">
            <a:extLst>
              <a:ext uri="{FF2B5EF4-FFF2-40B4-BE49-F238E27FC236}">
                <a16:creationId xmlns:a16="http://schemas.microsoft.com/office/drawing/2014/main" id="{A496DCE5-C34A-22C2-A9D8-E90DFC8CE86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p:pic>
    </p:spTree>
    <p:extLst>
      <p:ext uri="{BB962C8B-B14F-4D97-AF65-F5344CB8AC3E}">
        <p14:creationId xmlns:p14="http://schemas.microsoft.com/office/powerpoint/2010/main" val="1839748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p:txBody>
          <a:bodyPr/>
          <a:lstStyle/>
          <a:p>
            <a:r>
              <a:rPr lang="en-US" dirty="0"/>
              <a:t>Introduction and Scope of Project</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p:txBody>
          <a:bodyPr/>
          <a:lstStyle/>
          <a:p>
            <a:pPr marL="0" indent="0">
              <a:buNone/>
            </a:pPr>
            <a:r>
              <a:rPr lang="en-US" dirty="0"/>
              <a:t>This is a Hospital Management System that will manage and store critical data, essential to the operations of the hospital. This DBMS will manage patient care, staff coordination, appointment scheduling, treatment records, and billing procedures. This system will ensure that the operations at the hospital are organized and running optimally.</a:t>
            </a:r>
          </a:p>
          <a:p>
            <a:pPr marL="0" indent="0">
              <a:buNone/>
            </a:pPr>
            <a:r>
              <a:rPr lang="en-US" dirty="0"/>
              <a:t>In this presentation, I will walk you through how I developed this Hospital Management System, showing the process of visualizing the relationships between entities using ER Diagrams, creating a database in Lucid Chart, normalizing data up to 3NF, and using SQL for data retrieval, manipulation, and storage. </a:t>
            </a:r>
          </a:p>
          <a:p>
            <a:pPr marL="0" indent="0">
              <a:buNone/>
            </a:pPr>
            <a:r>
              <a:rPr lang="en-US" dirty="0"/>
              <a:t>Project Scope: patient care, staff coordination, scheduling, treatment records, and financial billing.</a:t>
            </a:r>
          </a:p>
        </p:txBody>
      </p:sp>
    </p:spTree>
    <p:extLst>
      <p:ext uri="{BB962C8B-B14F-4D97-AF65-F5344CB8AC3E}">
        <p14:creationId xmlns:p14="http://schemas.microsoft.com/office/powerpoint/2010/main" val="652841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p:txBody>
          <a:bodyPr/>
          <a:lstStyle/>
          <a:p>
            <a:r>
              <a:rPr lang="en-US" dirty="0"/>
              <a:t>Development of ER Diagram</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55514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ERD Development </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1596661"/>
            <a:ext cx="10884646" cy="3995650"/>
          </a:xfrm>
        </p:spPr>
        <p:txBody>
          <a:bodyPr/>
          <a:lstStyle/>
          <a:p>
            <a:r>
              <a:rPr lang="en-US" dirty="0"/>
              <a:t>The ER Diagram was used to conceptualize the relationships between entities in the database. In </a:t>
            </a:r>
            <a:r>
              <a:rPr lang="en-US" dirty="0" err="1"/>
              <a:t>Lucidchart</a:t>
            </a:r>
            <a:r>
              <a:rPr lang="en-US" dirty="0"/>
              <a:t>, the entities were created with attributes and cardinalities between entities mapped out. Ideal for technical teams designing detailed, implementation-ready data (</a:t>
            </a:r>
            <a:r>
              <a:rPr lang="en-US" dirty="0" err="1"/>
              <a:t>Keerthisena</a:t>
            </a:r>
            <a:r>
              <a:rPr lang="en-US" dirty="0"/>
              <a:t>, 2026).</a:t>
            </a:r>
          </a:p>
          <a:p>
            <a:r>
              <a:rPr lang="en-US" dirty="0">
                <a:effectLst/>
              </a:rPr>
              <a:t>Relationships:							</a:t>
            </a:r>
          </a:p>
          <a:p>
            <a:endParaRPr lang="en-US" dirty="0"/>
          </a:p>
        </p:txBody>
      </p:sp>
      <p:pic>
        <p:nvPicPr>
          <p:cNvPr id="8" name="Picture 7">
            <a:extLst>
              <a:ext uri="{FF2B5EF4-FFF2-40B4-BE49-F238E27FC236}">
                <a16:creationId xmlns:a16="http://schemas.microsoft.com/office/drawing/2014/main" id="{279B1F2B-FC8B-43AE-A22E-FE4D6FA6819D}"/>
              </a:ext>
            </a:extLst>
          </p:cNvPr>
          <p:cNvPicPr>
            <a:picLocks noChangeAspect="1"/>
          </p:cNvPicPr>
          <p:nvPr/>
        </p:nvPicPr>
        <p:blipFill>
          <a:blip r:embed="rId3"/>
          <a:stretch>
            <a:fillRect/>
          </a:stretch>
        </p:blipFill>
        <p:spPr>
          <a:xfrm>
            <a:off x="1943147" y="2703713"/>
            <a:ext cx="4399901" cy="2780624"/>
          </a:xfrm>
          <a:prstGeom prst="rect">
            <a:avLst/>
          </a:prstGeom>
        </p:spPr>
      </p:pic>
      <p:sp>
        <p:nvSpPr>
          <p:cNvPr id="9" name="TextBox 8">
            <a:extLst>
              <a:ext uri="{FF2B5EF4-FFF2-40B4-BE49-F238E27FC236}">
                <a16:creationId xmlns:a16="http://schemas.microsoft.com/office/drawing/2014/main" id="{B4B494D7-1265-4600-A00A-35946F85827F}"/>
              </a:ext>
            </a:extLst>
          </p:cNvPr>
          <p:cNvSpPr txBox="1"/>
          <p:nvPr/>
        </p:nvSpPr>
        <p:spPr>
          <a:xfrm>
            <a:off x="1751798" y="5580624"/>
            <a:ext cx="10370602" cy="523220"/>
          </a:xfrm>
          <a:prstGeom prst="rect">
            <a:avLst/>
          </a:prstGeom>
          <a:noFill/>
        </p:spPr>
        <p:txBody>
          <a:bodyPr wrap="square" rtlCol="0">
            <a:spAutoFit/>
          </a:bodyPr>
          <a:lstStyle/>
          <a:p>
            <a:r>
              <a:rPr lang="en-US" sz="1400" b="1" dirty="0"/>
              <a:t>Note.</a:t>
            </a:r>
            <a:r>
              <a:rPr lang="en-US" sz="1400" dirty="0"/>
              <a:t> From "Cardinality symbols in ER diagrams: Types &amp; notations + free templates," by Y. </a:t>
            </a:r>
            <a:r>
              <a:rPr lang="en-US" sz="1400" dirty="0" err="1"/>
              <a:t>Keerthisena</a:t>
            </a:r>
            <a:r>
              <a:rPr lang="en-US" sz="1400" dirty="0"/>
              <a:t>, 2026, </a:t>
            </a:r>
            <a:r>
              <a:rPr lang="en-US" sz="1400" dirty="0" err="1"/>
              <a:t>Creately</a:t>
            </a:r>
            <a:r>
              <a:rPr lang="en-US" sz="1400" dirty="0"/>
              <a:t> (</a:t>
            </a:r>
            <a:r>
              <a:rPr lang="en-US" sz="1400" dirty="0">
                <a:hlinkClick r:id="rId4"/>
              </a:rPr>
              <a:t>https://creately.com/guides/cardinality-symbols/</a:t>
            </a:r>
            <a:r>
              <a:rPr lang="en-US" sz="1400" dirty="0"/>
              <a:t>). Copyright 2026 by </a:t>
            </a:r>
            <a:r>
              <a:rPr lang="en-US" sz="1400" dirty="0" err="1"/>
              <a:t>Creately</a:t>
            </a:r>
            <a:r>
              <a:rPr lang="en-US" sz="1400" dirty="0"/>
              <a:t>.</a:t>
            </a:r>
          </a:p>
        </p:txBody>
      </p:sp>
    </p:spTree>
    <p:extLst>
      <p:ext uri="{BB962C8B-B14F-4D97-AF65-F5344CB8AC3E}">
        <p14:creationId xmlns:p14="http://schemas.microsoft.com/office/powerpoint/2010/main" val="233018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ERD Development </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1369137"/>
            <a:ext cx="11438813" cy="4812414"/>
          </a:xfrm>
        </p:spPr>
        <p:txBody>
          <a:bodyPr>
            <a:normAutofit fontScale="92500" lnSpcReduction="10000"/>
          </a:bodyPr>
          <a:lstStyle/>
          <a:p>
            <a:r>
              <a:rPr lang="en-US" dirty="0"/>
              <a:t>Here are the key entities and attributes  </a:t>
            </a:r>
          </a:p>
          <a:p>
            <a:r>
              <a:rPr lang="en-US" dirty="0">
                <a:effectLst/>
              </a:rPr>
              <a:t>Relationships:</a:t>
            </a:r>
            <a:endParaRPr lang="en-US" dirty="0"/>
          </a:p>
          <a:p>
            <a:pPr>
              <a:buFont typeface="Arial" panose="020B0604020202020204" pitchFamily="34" charset="0"/>
              <a:buChar char="•"/>
            </a:pPr>
            <a:r>
              <a:rPr lang="en-US" dirty="0">
                <a:effectLst/>
              </a:rPr>
              <a:t>Patients – Medical History (1-N) </a:t>
            </a:r>
          </a:p>
          <a:p>
            <a:pPr>
              <a:buFont typeface="Arial" panose="020B0604020202020204" pitchFamily="34" charset="0"/>
              <a:buChar char="•"/>
            </a:pPr>
            <a:r>
              <a:rPr lang="en-US" dirty="0">
                <a:effectLst/>
              </a:rPr>
              <a:t>Patients - Treatment (1:N)</a:t>
            </a:r>
            <a:endParaRPr lang="en-US" dirty="0">
              <a:highlight>
                <a:srgbClr val="000080"/>
              </a:highlight>
            </a:endParaRPr>
          </a:p>
          <a:p>
            <a:pPr>
              <a:buFont typeface="Arial" panose="020B0604020202020204" pitchFamily="34" charset="0"/>
              <a:buChar char="•"/>
            </a:pPr>
            <a:r>
              <a:rPr lang="en-US" dirty="0">
                <a:effectLst/>
              </a:rPr>
              <a:t>Patients - Billing (1:1)</a:t>
            </a:r>
            <a:endParaRPr lang="en-US" dirty="0"/>
          </a:p>
          <a:p>
            <a:pPr>
              <a:buFont typeface="Arial" panose="020B0604020202020204" pitchFamily="34" charset="0"/>
              <a:buChar char="•"/>
            </a:pPr>
            <a:r>
              <a:rPr lang="en-US" dirty="0">
                <a:effectLst/>
              </a:rPr>
              <a:t>Treatment – Medication (1:N)</a:t>
            </a:r>
          </a:p>
          <a:p>
            <a:pPr>
              <a:buFont typeface="Arial" panose="020B0604020202020204" pitchFamily="34" charset="0"/>
              <a:buChar char="•"/>
            </a:pPr>
            <a:r>
              <a:rPr lang="en-US" dirty="0"/>
              <a:t>Billing</a:t>
            </a:r>
            <a:r>
              <a:rPr lang="en-US" dirty="0">
                <a:effectLst/>
              </a:rPr>
              <a:t> – Billing Item (1:N)</a:t>
            </a:r>
          </a:p>
          <a:p>
            <a:pPr>
              <a:buFont typeface="Arial" panose="020B0604020202020204" pitchFamily="34" charset="0"/>
              <a:buChar char="•"/>
            </a:pPr>
            <a:r>
              <a:rPr lang="en-US" dirty="0"/>
              <a:t>Payment Status – Billing </a:t>
            </a:r>
            <a:r>
              <a:rPr lang="en-US" dirty="0">
                <a:effectLst/>
              </a:rPr>
              <a:t>(1:N)</a:t>
            </a:r>
            <a:endParaRPr lang="en-US" dirty="0"/>
          </a:p>
          <a:p>
            <a:pPr>
              <a:buFont typeface="Arial" panose="020B0604020202020204" pitchFamily="34" charset="0"/>
              <a:buChar char="•"/>
            </a:pPr>
            <a:r>
              <a:rPr lang="en-US" dirty="0"/>
              <a:t>Patient – Appointment </a:t>
            </a:r>
            <a:r>
              <a:rPr lang="en-US" dirty="0">
                <a:effectLst/>
              </a:rPr>
              <a:t>(1:N)</a:t>
            </a:r>
            <a:endParaRPr lang="en-US" dirty="0"/>
          </a:p>
          <a:p>
            <a:pPr>
              <a:buFont typeface="Arial" panose="020B0604020202020204" pitchFamily="34" charset="0"/>
              <a:buChar char="•"/>
            </a:pPr>
            <a:r>
              <a:rPr lang="en-US" dirty="0"/>
              <a:t>Medical Staff – Appointment </a:t>
            </a:r>
            <a:r>
              <a:rPr lang="en-US" dirty="0">
                <a:effectLst/>
              </a:rPr>
              <a:t>(1:N)</a:t>
            </a:r>
          </a:p>
          <a:p>
            <a:endParaRPr lang="en-US" dirty="0"/>
          </a:p>
          <a:p>
            <a:pPr>
              <a:buFont typeface="Arial" panose="020B0604020202020204" pitchFamily="34" charset="0"/>
              <a:buChar char="•"/>
            </a:pPr>
            <a:endParaRPr lang="en-US" dirty="0"/>
          </a:p>
        </p:txBody>
      </p:sp>
      <p:pic>
        <p:nvPicPr>
          <p:cNvPr id="4" name="Picture 3">
            <a:extLst>
              <a:ext uri="{FF2B5EF4-FFF2-40B4-BE49-F238E27FC236}">
                <a16:creationId xmlns:a16="http://schemas.microsoft.com/office/drawing/2014/main" id="{DA1C3BE1-5A77-4BEE-A72E-81BE945CF9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1402" y="856407"/>
            <a:ext cx="5806012" cy="4632456"/>
          </a:xfrm>
          <a:prstGeom prst="rect">
            <a:avLst/>
          </a:prstGeom>
        </p:spPr>
      </p:pic>
    </p:spTree>
    <p:extLst>
      <p:ext uri="{BB962C8B-B14F-4D97-AF65-F5344CB8AC3E}">
        <p14:creationId xmlns:p14="http://schemas.microsoft.com/office/powerpoint/2010/main" val="110862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p:txBody>
          <a:bodyPr/>
          <a:lstStyle/>
          <a:p>
            <a:r>
              <a:rPr lang="en-US" dirty="0"/>
              <a:t>Creation of Database</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82783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p:txBody>
          <a:bodyPr/>
          <a:lstStyle/>
          <a:p>
            <a:r>
              <a:rPr lang="en-US" dirty="0"/>
              <a:t>The Database</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1665733"/>
            <a:ext cx="5435600" cy="3995650"/>
          </a:xfrm>
        </p:spPr>
        <p:txBody>
          <a:bodyPr/>
          <a:lstStyle/>
          <a:p>
            <a:pPr lvl="1"/>
            <a:r>
              <a:rPr lang="en-US" dirty="0" err="1"/>
              <a:t>PatientID</a:t>
            </a:r>
            <a:r>
              <a:rPr lang="en-US" dirty="0"/>
              <a:t>, </a:t>
            </a:r>
            <a:r>
              <a:rPr lang="en-US" dirty="0" err="1"/>
              <a:t>StaffID</a:t>
            </a:r>
            <a:r>
              <a:rPr lang="en-US" dirty="0"/>
              <a:t>, </a:t>
            </a:r>
            <a:r>
              <a:rPr lang="en-US" dirty="0" err="1"/>
              <a:t>AppointmentID</a:t>
            </a:r>
            <a:r>
              <a:rPr lang="en-US" dirty="0"/>
              <a:t>, </a:t>
            </a:r>
            <a:r>
              <a:rPr lang="en-US" dirty="0" err="1"/>
              <a:t>TreatmentID</a:t>
            </a:r>
            <a:r>
              <a:rPr lang="en-US" dirty="0"/>
              <a:t>, </a:t>
            </a:r>
            <a:r>
              <a:rPr lang="en-US" dirty="0" err="1"/>
              <a:t>BillingID</a:t>
            </a:r>
            <a:r>
              <a:rPr lang="en-US" dirty="0"/>
              <a:t>, etc., are all primary keys</a:t>
            </a:r>
          </a:p>
          <a:p>
            <a:pPr lvl="1"/>
            <a:r>
              <a:rPr lang="en-US" dirty="0" err="1"/>
              <a:t>Patient_ID</a:t>
            </a:r>
            <a:r>
              <a:rPr lang="en-US" dirty="0"/>
              <a:t> appears as a foreign key in Appointments, Treatments and Billing to link records back to the patient. </a:t>
            </a:r>
          </a:p>
          <a:p>
            <a:pPr lvl="1"/>
            <a:r>
              <a:rPr lang="en-US" dirty="0" err="1"/>
              <a:t>Staff_ID</a:t>
            </a:r>
            <a:r>
              <a:rPr lang="en-US" dirty="0"/>
              <a:t> appears as a foreign key in Appointments. </a:t>
            </a:r>
            <a:r>
              <a:rPr lang="en-US" dirty="0" err="1"/>
              <a:t>Treatment_ID</a:t>
            </a:r>
            <a:r>
              <a:rPr lang="en-US" dirty="0"/>
              <a:t> appears as a foreign key in Billing.</a:t>
            </a:r>
          </a:p>
        </p:txBody>
      </p:sp>
      <p:pic>
        <p:nvPicPr>
          <p:cNvPr id="4" name="Picture 3">
            <a:extLst>
              <a:ext uri="{FF2B5EF4-FFF2-40B4-BE49-F238E27FC236}">
                <a16:creationId xmlns:a16="http://schemas.microsoft.com/office/drawing/2014/main" id="{687083F4-ACAB-4913-AAAE-95DBA2040A36}"/>
              </a:ext>
            </a:extLst>
          </p:cNvPr>
          <p:cNvPicPr>
            <a:picLocks noChangeAspect="1"/>
          </p:cNvPicPr>
          <p:nvPr/>
        </p:nvPicPr>
        <p:blipFill>
          <a:blip r:embed="rId3"/>
          <a:stretch>
            <a:fillRect/>
          </a:stretch>
        </p:blipFill>
        <p:spPr>
          <a:xfrm>
            <a:off x="6714283" y="708934"/>
            <a:ext cx="4926854" cy="4387466"/>
          </a:xfrm>
          <a:prstGeom prst="rect">
            <a:avLst/>
          </a:prstGeom>
        </p:spPr>
      </p:pic>
    </p:spTree>
    <p:extLst>
      <p:ext uri="{BB962C8B-B14F-4D97-AF65-F5344CB8AC3E}">
        <p14:creationId xmlns:p14="http://schemas.microsoft.com/office/powerpoint/2010/main" val="3353460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p:txBody>
          <a:bodyPr/>
          <a:lstStyle/>
          <a:p>
            <a:r>
              <a:rPr lang="en-US" dirty="0"/>
              <a:t>Normalization Process</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61728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515983"/>
            <a:ext cx="11436531" cy="877824"/>
          </a:xfrm>
          <a:prstGeom prst="rect">
            <a:avLst/>
          </a:prstGeom>
          <a:noFill/>
          <a:ln/>
        </p:spPr>
        <p:txBody>
          <a:bodyPr wrap="square" rtlCol="0" anchor="ctr"/>
          <a:lstStyle/>
          <a:p>
            <a:r>
              <a:rPr lang="en-US" sz="4000" b="1" spc="600" dirty="0">
                <a:latin typeface="Walbaum Display (Headings)"/>
                <a:ea typeface="Calibri" pitchFamily="34" charset="-122"/>
                <a:cs typeface="Calibri" pitchFamily="34" charset="-120"/>
              </a:rPr>
              <a:t>Normalization Process: 1NF → 3NF</a:t>
            </a:r>
            <a:endParaRPr lang="en-US" sz="4000" spc="600" dirty="0">
              <a:latin typeface="Walbaum Display (Headings)"/>
            </a:endParaRPr>
          </a:p>
        </p:txBody>
      </p:sp>
      <p:sp>
        <p:nvSpPr>
          <p:cNvPr id="5" name="Text 3"/>
          <p:cNvSpPr/>
          <p:nvPr/>
        </p:nvSpPr>
        <p:spPr>
          <a:xfrm>
            <a:off x="548640" y="1731264"/>
            <a:ext cx="11094720" cy="463296"/>
          </a:xfrm>
          <a:prstGeom prst="rect">
            <a:avLst/>
          </a:prstGeom>
          <a:noFill/>
          <a:ln/>
        </p:spPr>
        <p:txBody>
          <a:bodyPr wrap="square" rtlCol="0" anchor="ctr"/>
          <a:lstStyle/>
          <a:p>
            <a:r>
              <a:rPr lang="en-US" sz="1667" dirty="0">
                <a:latin typeface="Calibri" pitchFamily="34" charset="0"/>
                <a:ea typeface="Calibri" pitchFamily="34" charset="-122"/>
                <a:cs typeface="Calibri" pitchFamily="34" charset="-120"/>
              </a:rPr>
              <a:t>Database normalization is a database design process that organizes data into specific table structures. It helps to improve data integrity, prevent data anomalies, minimize data redundancy, and bolster query performance</a:t>
            </a:r>
            <a:r>
              <a:rPr lang="en-US" sz="1600" dirty="0"/>
              <a:t> (</a:t>
            </a:r>
            <a:r>
              <a:rPr lang="en-US" sz="1600" dirty="0" err="1"/>
              <a:t>Gomstyn</a:t>
            </a:r>
            <a:r>
              <a:rPr lang="en-US" sz="1600" dirty="0"/>
              <a:t> &amp; Jonker, 2025)</a:t>
            </a:r>
            <a:r>
              <a:rPr lang="en-US" sz="1667" dirty="0">
                <a:latin typeface="Calibri" pitchFamily="34" charset="0"/>
                <a:ea typeface="Calibri" pitchFamily="34" charset="-122"/>
                <a:cs typeface="Calibri" pitchFamily="34" charset="-120"/>
              </a:rPr>
              <a:t>.</a:t>
            </a:r>
            <a:endParaRPr lang="en-US" sz="1667" dirty="0"/>
          </a:p>
        </p:txBody>
      </p:sp>
      <p:sp>
        <p:nvSpPr>
          <p:cNvPr id="12" name="Shape 10"/>
          <p:cNvSpPr/>
          <p:nvPr/>
        </p:nvSpPr>
        <p:spPr>
          <a:xfrm>
            <a:off x="548640" y="3063240"/>
            <a:ext cx="1584960" cy="731520"/>
          </a:xfrm>
          <a:prstGeom prst="roundRect">
            <a:avLst>
              <a:gd name="adj" fmla="val 13333"/>
            </a:avLst>
          </a:prstGeom>
          <a:solidFill>
            <a:srgbClr val="185FA5"/>
          </a:solidFill>
          <a:ln w="12700">
            <a:solidFill>
              <a:srgbClr val="185FA5"/>
            </a:solidFill>
            <a:prstDash val="solid"/>
          </a:ln>
        </p:spPr>
      </p:sp>
      <p:sp>
        <p:nvSpPr>
          <p:cNvPr id="13" name="Text 11"/>
          <p:cNvSpPr/>
          <p:nvPr/>
        </p:nvSpPr>
        <p:spPr>
          <a:xfrm>
            <a:off x="548640" y="3063240"/>
            <a:ext cx="1584960" cy="829056"/>
          </a:xfrm>
          <a:prstGeom prst="rect">
            <a:avLst/>
          </a:prstGeom>
          <a:noFill/>
          <a:ln/>
        </p:spPr>
        <p:txBody>
          <a:bodyPr wrap="square" rtlCol="0" anchor="ctr"/>
          <a:lstStyle/>
          <a:p>
            <a:pPr algn="ctr"/>
            <a:r>
              <a:rPr lang="en-US" sz="2933" b="1" dirty="0">
                <a:solidFill>
                  <a:srgbClr val="FFFFFF"/>
                </a:solidFill>
              </a:rPr>
              <a:t>1NF</a:t>
            </a:r>
            <a:endParaRPr lang="en-US" sz="2933" dirty="0"/>
          </a:p>
        </p:txBody>
      </p:sp>
      <p:sp>
        <p:nvSpPr>
          <p:cNvPr id="14" name="Shape 12"/>
          <p:cNvSpPr/>
          <p:nvPr/>
        </p:nvSpPr>
        <p:spPr>
          <a:xfrm>
            <a:off x="2292096" y="3063240"/>
            <a:ext cx="9326880" cy="829056"/>
          </a:xfrm>
          <a:prstGeom prst="roundRect">
            <a:avLst>
              <a:gd name="adj" fmla="val 10000"/>
            </a:avLst>
          </a:prstGeom>
          <a:solidFill>
            <a:srgbClr val="E6F1FB"/>
          </a:solidFill>
          <a:ln w="12700">
            <a:solidFill>
              <a:srgbClr val="185FA5"/>
            </a:solidFill>
            <a:prstDash val="solid"/>
          </a:ln>
        </p:spPr>
      </p:sp>
      <p:sp>
        <p:nvSpPr>
          <p:cNvPr id="15" name="Text 13"/>
          <p:cNvSpPr/>
          <p:nvPr/>
        </p:nvSpPr>
        <p:spPr>
          <a:xfrm>
            <a:off x="2438400" y="3112008"/>
            <a:ext cx="9022080" cy="316992"/>
          </a:xfrm>
          <a:prstGeom prst="rect">
            <a:avLst/>
          </a:prstGeom>
          <a:noFill/>
          <a:ln/>
        </p:spPr>
        <p:txBody>
          <a:bodyPr wrap="square" rtlCol="0" anchor="ctr"/>
          <a:lstStyle/>
          <a:p>
            <a:r>
              <a:rPr lang="en-US" sz="1467" b="1" dirty="0">
                <a:solidFill>
                  <a:srgbClr val="185FA5"/>
                </a:solidFill>
                <a:latin typeface="Calibri" pitchFamily="34" charset="0"/>
                <a:ea typeface="Calibri" pitchFamily="34" charset="-122"/>
                <a:cs typeface="Calibri" pitchFamily="34" charset="-120"/>
              </a:rPr>
              <a:t>First Normal Form</a:t>
            </a:r>
            <a:endParaRPr lang="en-US" sz="1467" dirty="0"/>
          </a:p>
        </p:txBody>
      </p:sp>
      <p:sp>
        <p:nvSpPr>
          <p:cNvPr id="16" name="Text 14"/>
          <p:cNvSpPr/>
          <p:nvPr/>
        </p:nvSpPr>
        <p:spPr>
          <a:xfrm>
            <a:off x="2438400" y="3429000"/>
            <a:ext cx="9022080" cy="341376"/>
          </a:xfrm>
          <a:prstGeom prst="rect">
            <a:avLst/>
          </a:prstGeom>
          <a:noFill/>
          <a:ln/>
        </p:spPr>
        <p:txBody>
          <a:bodyPr wrap="square" rtlCol="0" anchor="ctr"/>
          <a:lstStyle/>
          <a:p>
            <a:r>
              <a:rPr lang="en-US" sz="1333" dirty="0">
                <a:solidFill>
                  <a:srgbClr val="3D3D3A"/>
                </a:solidFill>
                <a:latin typeface="Calibri" pitchFamily="34" charset="0"/>
                <a:ea typeface="Calibri" pitchFamily="34" charset="-122"/>
                <a:cs typeface="Calibri" pitchFamily="34" charset="-120"/>
              </a:rPr>
              <a:t>All values are made atomic. One value per cell, every row uniquely identified. </a:t>
            </a:r>
            <a:endParaRPr lang="en-US" sz="1333" dirty="0"/>
          </a:p>
        </p:txBody>
      </p:sp>
      <p:sp>
        <p:nvSpPr>
          <p:cNvPr id="17" name="Text 15"/>
          <p:cNvSpPr/>
          <p:nvPr/>
        </p:nvSpPr>
        <p:spPr>
          <a:xfrm>
            <a:off x="877824" y="3892296"/>
            <a:ext cx="926592" cy="219456"/>
          </a:xfrm>
          <a:prstGeom prst="rect">
            <a:avLst/>
          </a:prstGeom>
          <a:noFill/>
          <a:ln/>
        </p:spPr>
        <p:txBody>
          <a:bodyPr wrap="square" rtlCol="0" anchor="ctr"/>
          <a:lstStyle/>
          <a:p>
            <a:pPr algn="ctr"/>
            <a:r>
              <a:rPr lang="en-US" sz="1867" b="1" dirty="0">
                <a:solidFill>
                  <a:srgbClr val="185FA5"/>
                </a:solidFill>
              </a:rPr>
              <a:t>↓</a:t>
            </a:r>
            <a:endParaRPr lang="en-US" sz="1867" dirty="0"/>
          </a:p>
        </p:txBody>
      </p:sp>
      <p:sp>
        <p:nvSpPr>
          <p:cNvPr id="18" name="Shape 16"/>
          <p:cNvSpPr/>
          <p:nvPr/>
        </p:nvSpPr>
        <p:spPr>
          <a:xfrm>
            <a:off x="548640" y="4062984"/>
            <a:ext cx="1584960" cy="829056"/>
          </a:xfrm>
          <a:prstGeom prst="roundRect">
            <a:avLst>
              <a:gd name="adj" fmla="val 13333"/>
            </a:avLst>
          </a:prstGeom>
          <a:solidFill>
            <a:srgbClr val="085041"/>
          </a:solidFill>
          <a:ln w="12700">
            <a:solidFill>
              <a:srgbClr val="085041"/>
            </a:solidFill>
            <a:prstDash val="solid"/>
          </a:ln>
        </p:spPr>
      </p:sp>
      <p:sp>
        <p:nvSpPr>
          <p:cNvPr id="19" name="Text 17"/>
          <p:cNvSpPr/>
          <p:nvPr/>
        </p:nvSpPr>
        <p:spPr>
          <a:xfrm>
            <a:off x="548640" y="4062984"/>
            <a:ext cx="1584960" cy="731520"/>
          </a:xfrm>
          <a:prstGeom prst="rect">
            <a:avLst/>
          </a:prstGeom>
          <a:noFill/>
          <a:ln/>
        </p:spPr>
        <p:txBody>
          <a:bodyPr wrap="square" rtlCol="0" anchor="ctr"/>
          <a:lstStyle/>
          <a:p>
            <a:pPr algn="ctr"/>
            <a:r>
              <a:rPr lang="en-US" sz="2933" b="1" dirty="0">
                <a:solidFill>
                  <a:srgbClr val="FFFFFF"/>
                </a:solidFill>
              </a:rPr>
              <a:t>2NF</a:t>
            </a:r>
            <a:endParaRPr lang="en-US" sz="2933" dirty="0"/>
          </a:p>
        </p:txBody>
      </p:sp>
      <p:sp>
        <p:nvSpPr>
          <p:cNvPr id="20" name="Shape 18"/>
          <p:cNvSpPr/>
          <p:nvPr/>
        </p:nvSpPr>
        <p:spPr>
          <a:xfrm>
            <a:off x="2292096" y="4062984"/>
            <a:ext cx="9326880" cy="829056"/>
          </a:xfrm>
          <a:prstGeom prst="roundRect">
            <a:avLst>
              <a:gd name="adj" fmla="val 10000"/>
            </a:avLst>
          </a:prstGeom>
          <a:solidFill>
            <a:srgbClr val="D4F0E5"/>
          </a:solidFill>
          <a:ln w="12700">
            <a:solidFill>
              <a:srgbClr val="085041"/>
            </a:solidFill>
            <a:prstDash val="solid"/>
          </a:ln>
        </p:spPr>
      </p:sp>
      <p:sp>
        <p:nvSpPr>
          <p:cNvPr id="21" name="Text 19"/>
          <p:cNvSpPr/>
          <p:nvPr/>
        </p:nvSpPr>
        <p:spPr>
          <a:xfrm>
            <a:off x="2438400" y="4111752"/>
            <a:ext cx="9022080" cy="316992"/>
          </a:xfrm>
          <a:prstGeom prst="rect">
            <a:avLst/>
          </a:prstGeom>
          <a:noFill/>
          <a:ln/>
        </p:spPr>
        <p:txBody>
          <a:bodyPr wrap="square" rtlCol="0" anchor="ctr"/>
          <a:lstStyle/>
          <a:p>
            <a:r>
              <a:rPr lang="en-US" sz="1467" b="1" dirty="0">
                <a:solidFill>
                  <a:srgbClr val="085041"/>
                </a:solidFill>
                <a:latin typeface="Calibri" pitchFamily="34" charset="0"/>
                <a:ea typeface="Calibri" pitchFamily="34" charset="-122"/>
                <a:cs typeface="Calibri" pitchFamily="34" charset="-120"/>
              </a:rPr>
              <a:t>Second Normal Form</a:t>
            </a:r>
            <a:endParaRPr lang="en-US" sz="1467" dirty="0"/>
          </a:p>
        </p:txBody>
      </p:sp>
      <p:sp>
        <p:nvSpPr>
          <p:cNvPr id="22" name="Text 20"/>
          <p:cNvSpPr/>
          <p:nvPr/>
        </p:nvSpPr>
        <p:spPr>
          <a:xfrm>
            <a:off x="2438400" y="4428744"/>
            <a:ext cx="9022080" cy="341376"/>
          </a:xfrm>
          <a:prstGeom prst="rect">
            <a:avLst/>
          </a:prstGeom>
          <a:noFill/>
          <a:ln/>
        </p:spPr>
        <p:txBody>
          <a:bodyPr wrap="square" rtlCol="0" anchor="ctr"/>
          <a:lstStyle/>
          <a:p>
            <a:r>
              <a:rPr lang="en-US" sz="1333" dirty="0">
                <a:solidFill>
                  <a:srgbClr val="3D3D3A"/>
                </a:solidFill>
                <a:latin typeface="Calibri" pitchFamily="34" charset="0"/>
                <a:ea typeface="Calibri" pitchFamily="34" charset="-122"/>
                <a:cs typeface="Calibri" pitchFamily="34" charset="-120"/>
              </a:rPr>
              <a:t>Partial dependencies are removed. Each non-key attribute depends on its own full primary key. FKs link the tables.</a:t>
            </a:r>
            <a:endParaRPr lang="en-US" sz="1333" dirty="0"/>
          </a:p>
        </p:txBody>
      </p:sp>
      <p:sp>
        <p:nvSpPr>
          <p:cNvPr id="23" name="Text 21"/>
          <p:cNvSpPr/>
          <p:nvPr/>
        </p:nvSpPr>
        <p:spPr>
          <a:xfrm>
            <a:off x="877824" y="4892040"/>
            <a:ext cx="926592" cy="219456"/>
          </a:xfrm>
          <a:prstGeom prst="rect">
            <a:avLst/>
          </a:prstGeom>
          <a:noFill/>
          <a:ln/>
        </p:spPr>
        <p:txBody>
          <a:bodyPr wrap="square" rtlCol="0" anchor="ctr"/>
          <a:lstStyle/>
          <a:p>
            <a:pPr algn="ctr"/>
            <a:r>
              <a:rPr lang="en-US" sz="1867" b="1" dirty="0">
                <a:solidFill>
                  <a:srgbClr val="085041"/>
                </a:solidFill>
              </a:rPr>
              <a:t>↓</a:t>
            </a:r>
            <a:endParaRPr lang="en-US" sz="1867" dirty="0"/>
          </a:p>
        </p:txBody>
      </p:sp>
      <p:sp>
        <p:nvSpPr>
          <p:cNvPr id="24" name="Shape 22"/>
          <p:cNvSpPr/>
          <p:nvPr/>
        </p:nvSpPr>
        <p:spPr>
          <a:xfrm>
            <a:off x="548640" y="5062728"/>
            <a:ext cx="1584960" cy="829056"/>
          </a:xfrm>
          <a:prstGeom prst="roundRect">
            <a:avLst>
              <a:gd name="adj" fmla="val 13333"/>
            </a:avLst>
          </a:prstGeom>
          <a:solidFill>
            <a:srgbClr val="534AB7"/>
          </a:solidFill>
          <a:ln w="12700">
            <a:solidFill>
              <a:srgbClr val="534AB7"/>
            </a:solidFill>
            <a:prstDash val="solid"/>
          </a:ln>
        </p:spPr>
      </p:sp>
      <p:sp>
        <p:nvSpPr>
          <p:cNvPr id="25" name="Text 23"/>
          <p:cNvSpPr/>
          <p:nvPr/>
        </p:nvSpPr>
        <p:spPr>
          <a:xfrm>
            <a:off x="548640" y="5062728"/>
            <a:ext cx="1584960" cy="731520"/>
          </a:xfrm>
          <a:prstGeom prst="rect">
            <a:avLst/>
          </a:prstGeom>
          <a:noFill/>
          <a:ln/>
        </p:spPr>
        <p:txBody>
          <a:bodyPr wrap="square" rtlCol="0" anchor="ctr"/>
          <a:lstStyle/>
          <a:p>
            <a:pPr algn="ctr"/>
            <a:r>
              <a:rPr lang="en-US" sz="2933" b="1" dirty="0">
                <a:solidFill>
                  <a:srgbClr val="FFFFFF"/>
                </a:solidFill>
              </a:rPr>
              <a:t>3NF</a:t>
            </a:r>
            <a:endParaRPr lang="en-US" sz="2933" dirty="0"/>
          </a:p>
        </p:txBody>
      </p:sp>
      <p:sp>
        <p:nvSpPr>
          <p:cNvPr id="26" name="Shape 24"/>
          <p:cNvSpPr/>
          <p:nvPr/>
        </p:nvSpPr>
        <p:spPr>
          <a:xfrm>
            <a:off x="2292096" y="5062728"/>
            <a:ext cx="9326880" cy="829056"/>
          </a:xfrm>
          <a:prstGeom prst="roundRect">
            <a:avLst>
              <a:gd name="adj" fmla="val 10000"/>
            </a:avLst>
          </a:prstGeom>
          <a:solidFill>
            <a:srgbClr val="EEEDFE"/>
          </a:solidFill>
          <a:ln w="12700">
            <a:solidFill>
              <a:srgbClr val="534AB7"/>
            </a:solidFill>
            <a:prstDash val="solid"/>
          </a:ln>
        </p:spPr>
      </p:sp>
      <p:sp>
        <p:nvSpPr>
          <p:cNvPr id="27" name="Text 25"/>
          <p:cNvSpPr/>
          <p:nvPr/>
        </p:nvSpPr>
        <p:spPr>
          <a:xfrm>
            <a:off x="2438400" y="5111496"/>
            <a:ext cx="9022080" cy="316992"/>
          </a:xfrm>
          <a:prstGeom prst="rect">
            <a:avLst/>
          </a:prstGeom>
          <a:noFill/>
          <a:ln/>
        </p:spPr>
        <p:txBody>
          <a:bodyPr wrap="square" rtlCol="0" anchor="ctr"/>
          <a:lstStyle/>
          <a:p>
            <a:r>
              <a:rPr lang="en-US" sz="1467" b="1" dirty="0">
                <a:solidFill>
                  <a:srgbClr val="534AB7"/>
                </a:solidFill>
                <a:latin typeface="Calibri" pitchFamily="34" charset="0"/>
                <a:ea typeface="Calibri" pitchFamily="34" charset="-122"/>
                <a:cs typeface="Calibri" pitchFamily="34" charset="-120"/>
              </a:rPr>
              <a:t>Third Normal Form</a:t>
            </a:r>
            <a:endParaRPr lang="en-US" sz="1467" dirty="0"/>
          </a:p>
        </p:txBody>
      </p:sp>
      <p:sp>
        <p:nvSpPr>
          <p:cNvPr id="28" name="Text 26"/>
          <p:cNvSpPr/>
          <p:nvPr/>
        </p:nvSpPr>
        <p:spPr>
          <a:xfrm>
            <a:off x="2438400" y="5428488"/>
            <a:ext cx="9022080" cy="341376"/>
          </a:xfrm>
          <a:prstGeom prst="rect">
            <a:avLst/>
          </a:prstGeom>
          <a:noFill/>
          <a:ln/>
        </p:spPr>
        <p:txBody>
          <a:bodyPr wrap="square" rtlCol="0" anchor="ctr"/>
          <a:lstStyle/>
          <a:p>
            <a:r>
              <a:rPr lang="en-US" sz="1333" dirty="0">
                <a:solidFill>
                  <a:srgbClr val="3D3D3A"/>
                </a:solidFill>
                <a:latin typeface="Calibri" pitchFamily="34" charset="0"/>
                <a:ea typeface="Calibri" pitchFamily="34" charset="-122"/>
                <a:cs typeface="Calibri" pitchFamily="34" charset="-120"/>
              </a:rPr>
              <a:t>Eliminates transitive dependencies. No attribute depends on a non-key</a:t>
            </a:r>
            <a:endParaRPr lang="en-US" sz="133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06B59-80B8-CEED-0BCA-BC3F80A85FEA}"/>
              </a:ext>
              <a:ext uri="{C183D7F6-B498-43B3-948B-1728B52AA6E4}">
                <adec:decorative xmlns:adec="http://schemas.microsoft.com/office/drawing/2017/decorative" val="1"/>
              </a:ext>
            </a:extLst>
          </p:cNvPr>
          <p:cNvGrpSpPr/>
          <p:nvPr/>
        </p:nvGrpSpPr>
        <p:grpSpPr>
          <a:xfrm>
            <a:off x="4803321" y="682622"/>
            <a:ext cx="734257" cy="760506"/>
            <a:chOff x="5243759" y="1363788"/>
            <a:chExt cx="734257" cy="760506"/>
          </a:xfrm>
        </p:grpSpPr>
        <p:sp>
          <p:nvSpPr>
            <p:cNvPr id="6" name="Freeform 5">
              <a:extLst>
                <a:ext uri="{FF2B5EF4-FFF2-40B4-BE49-F238E27FC236}">
                  <a16:creationId xmlns:a16="http://schemas.microsoft.com/office/drawing/2014/main" id="{73C2F317-81E4-3678-2FF2-495B3A95470A}"/>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A7C6D33A-37B7-D2C4-2C1C-6D5253D0D480}"/>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18145A95-72C3-9BFC-32D2-908F235E389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9" name="Oval 8">
            <a:extLst>
              <a:ext uri="{FF2B5EF4-FFF2-40B4-BE49-F238E27FC236}">
                <a16:creationId xmlns:a16="http://schemas.microsoft.com/office/drawing/2014/main" id="{5C4A7DC2-42C3-FDDF-02BF-9598D75A6A83}"/>
              </a:ext>
              <a:ext uri="{C183D7F6-B498-43B3-948B-1728B52AA6E4}">
                <adec:decorative xmlns:adec="http://schemas.microsoft.com/office/drawing/2017/decorative" val="1"/>
              </a:ext>
            </a:extLst>
          </p:cNvPr>
          <p:cNvSpPr>
            <a:spLocks noChangeAspect="1"/>
          </p:cNvSpPr>
          <p:nvPr/>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Title 9">
            <a:extLst>
              <a:ext uri="{FF2B5EF4-FFF2-40B4-BE49-F238E27FC236}">
                <a16:creationId xmlns:a16="http://schemas.microsoft.com/office/drawing/2014/main" id="{79241B7C-F647-4A33-B68A-E63CAF3950C2}"/>
              </a:ext>
            </a:extLst>
          </p:cNvPr>
          <p:cNvSpPr>
            <a:spLocks noGrp="1"/>
          </p:cNvSpPr>
          <p:nvPr>
            <p:ph type="title"/>
          </p:nvPr>
        </p:nvSpPr>
        <p:spPr>
          <a:xfrm>
            <a:off x="-121532" y="-1177690"/>
            <a:ext cx="4899628" cy="2331490"/>
          </a:xfrm>
        </p:spPr>
        <p:txBody>
          <a:bodyPr/>
          <a:lstStyle/>
          <a:p>
            <a:r>
              <a:rPr lang="en-US" dirty="0"/>
              <a:t>Normalized Tables</a:t>
            </a:r>
          </a:p>
        </p:txBody>
      </p:sp>
      <p:pic>
        <p:nvPicPr>
          <p:cNvPr id="21" name="Picture 20">
            <a:extLst>
              <a:ext uri="{FF2B5EF4-FFF2-40B4-BE49-F238E27FC236}">
                <a16:creationId xmlns:a16="http://schemas.microsoft.com/office/drawing/2014/main" id="{D55E1C2C-E3AA-4805-A724-960D52B97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045" y="1638634"/>
            <a:ext cx="10097909" cy="1295581"/>
          </a:xfrm>
          <a:prstGeom prst="rect">
            <a:avLst/>
          </a:prstGeom>
        </p:spPr>
      </p:pic>
      <p:pic>
        <p:nvPicPr>
          <p:cNvPr id="23" name="Picture 22">
            <a:extLst>
              <a:ext uri="{FF2B5EF4-FFF2-40B4-BE49-F238E27FC236}">
                <a16:creationId xmlns:a16="http://schemas.microsoft.com/office/drawing/2014/main" id="{0FE9E1F5-B8E7-40E1-8E70-4FCB90977F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045" y="3244565"/>
            <a:ext cx="9974067" cy="1457528"/>
          </a:xfrm>
          <a:prstGeom prst="rect">
            <a:avLst/>
          </a:prstGeom>
        </p:spPr>
      </p:pic>
      <p:pic>
        <p:nvPicPr>
          <p:cNvPr id="25" name="Picture 24">
            <a:extLst>
              <a:ext uri="{FF2B5EF4-FFF2-40B4-BE49-F238E27FC236}">
                <a16:creationId xmlns:a16="http://schemas.microsoft.com/office/drawing/2014/main" id="{2D01BD8D-41A0-4013-A68C-AAC7DCCA80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7793" y="5100951"/>
            <a:ext cx="10097909" cy="1047896"/>
          </a:xfrm>
          <a:prstGeom prst="rect">
            <a:avLst/>
          </a:prstGeom>
        </p:spPr>
      </p:pic>
    </p:spTree>
    <p:extLst>
      <p:ext uri="{BB962C8B-B14F-4D97-AF65-F5344CB8AC3E}">
        <p14:creationId xmlns:p14="http://schemas.microsoft.com/office/powerpoint/2010/main" val="414523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7" descr="Data Points Digital background">
            <a:extLst>
              <a:ext uri="{FF2B5EF4-FFF2-40B4-BE49-F238E27FC236}">
                <a16:creationId xmlns:a16="http://schemas.microsoft.com/office/drawing/2014/main" id="{1358CD3B-43A8-5BF7-2E60-B0563F068D11}"/>
              </a:ext>
            </a:extLst>
          </p:cNvPr>
          <p:cNvPicPr>
            <a:picLocks noGrp="1" noChangeAspect="1"/>
          </p:cNvPicPr>
          <p:nvPr>
            <p:ph type="pic" sz="quarter" idx="13"/>
          </p:nvPr>
        </p:nvPicPr>
        <p:blipFill>
          <a:blip r:embed="rId3">
            <a:alphaModFix amt="45000"/>
            <a:extLst>
              <a:ext uri="{28A0092B-C50C-407E-A947-70E740481C1C}">
                <a14:useLocalDpi xmlns:a14="http://schemas.microsoft.com/office/drawing/2010/main" val="0"/>
              </a:ext>
            </a:extLst>
          </a:blip>
          <a:srcRect/>
          <a:stretch/>
        </p:blipFill>
        <p:spPr/>
      </p:pic>
      <p:sp>
        <p:nvSpPr>
          <p:cNvPr id="7" name="Title 6">
            <a:extLst>
              <a:ext uri="{FF2B5EF4-FFF2-40B4-BE49-F238E27FC236}">
                <a16:creationId xmlns:a16="http://schemas.microsoft.com/office/drawing/2014/main" id="{8A84D4AF-8D29-5A55-F3F8-1E928E3B08FF}"/>
              </a:ext>
            </a:extLst>
          </p:cNvPr>
          <p:cNvSpPr>
            <a:spLocks noGrp="1"/>
          </p:cNvSpPr>
          <p:nvPr>
            <p:ph type="ctrTitle"/>
          </p:nvPr>
        </p:nvSpPr>
        <p:spPr/>
        <p:txBody>
          <a:bodyPr/>
          <a:lstStyle/>
          <a:p>
            <a:r>
              <a:rPr lang="en-US" dirty="0"/>
              <a:t>SQL Queries</a:t>
            </a:r>
          </a:p>
        </p:txBody>
      </p:sp>
      <p:sp>
        <p:nvSpPr>
          <p:cNvPr id="8" name="Subtitle 7">
            <a:extLst>
              <a:ext uri="{FF2B5EF4-FFF2-40B4-BE49-F238E27FC236}">
                <a16:creationId xmlns:a16="http://schemas.microsoft.com/office/drawing/2014/main" id="{6450744F-A4B6-FD90-F6DA-4EF9A192E37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67467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12064" y="670560"/>
            <a:ext cx="11167872" cy="950976"/>
          </a:xfrm>
          <a:prstGeom prst="rect">
            <a:avLst/>
          </a:prstGeom>
          <a:noFill/>
          <a:ln/>
        </p:spPr>
        <p:txBody>
          <a:bodyPr wrap="square" rtlCol="0" anchor="ctr"/>
          <a:lstStyle/>
          <a:p>
            <a:r>
              <a:rPr kumimoji="0" lang="en-US" sz="4000" b="0" i="0" u="none" strike="noStrike" kern="1200" cap="none" spc="0" normalizeH="0" baseline="0" noProof="0" dirty="0">
                <a:ln>
                  <a:noFill/>
                </a:ln>
                <a:solidFill>
                  <a:prstClr val="white"/>
                </a:solidFill>
                <a:effectLst/>
                <a:uLnTx/>
                <a:uFillTx/>
                <a:latin typeface="Walbaum Display"/>
                <a:ea typeface="+mj-ea"/>
                <a:cs typeface="+mj-cs"/>
              </a:rPr>
              <a:t>Normalized Tables</a:t>
            </a:r>
            <a:endParaRPr lang="en-US" sz="5067" dirty="0"/>
          </a:p>
        </p:txBody>
      </p:sp>
      <p:sp>
        <p:nvSpPr>
          <p:cNvPr id="5" name="Text 3"/>
          <p:cNvSpPr/>
          <p:nvPr/>
        </p:nvSpPr>
        <p:spPr>
          <a:xfrm>
            <a:off x="512064" y="1767840"/>
            <a:ext cx="11167872" cy="487680"/>
          </a:xfrm>
          <a:prstGeom prst="rect">
            <a:avLst/>
          </a:prstGeom>
          <a:noFill/>
          <a:ln/>
        </p:spPr>
        <p:txBody>
          <a:bodyPr wrap="square" rtlCol="0" anchor="ctr"/>
          <a:lstStyle/>
          <a:p>
            <a:r>
              <a:rPr lang="en-US" sz="2133" dirty="0">
                <a:latin typeface="Calibri" pitchFamily="34" charset="0"/>
                <a:ea typeface="Calibri" pitchFamily="34" charset="-122"/>
                <a:cs typeface="Calibri" pitchFamily="34" charset="-120"/>
              </a:rPr>
              <a:t>SQL is a standard language for accessing and manipulating databases(W3Schools, n.d.).</a:t>
            </a:r>
            <a:endParaRPr lang="en-US" sz="2133" dirty="0"/>
          </a:p>
        </p:txBody>
      </p:sp>
      <p:sp>
        <p:nvSpPr>
          <p:cNvPr id="6" name="Shape 4"/>
          <p:cNvSpPr/>
          <p:nvPr/>
        </p:nvSpPr>
        <p:spPr>
          <a:xfrm>
            <a:off x="512064" y="2535936"/>
            <a:ext cx="5486400" cy="792480"/>
          </a:xfrm>
          <a:prstGeom prst="roundRect">
            <a:avLst>
              <a:gd name="adj" fmla="val 9231"/>
            </a:avLst>
          </a:prstGeom>
          <a:solidFill>
            <a:srgbClr val="000000"/>
          </a:solidFill>
          <a:ln w="12700">
            <a:solidFill>
              <a:srgbClr val="185FA5"/>
            </a:solidFill>
            <a:prstDash val="solid"/>
          </a:ln>
        </p:spPr>
      </p:sp>
      <p:sp>
        <p:nvSpPr>
          <p:cNvPr id="7" name="Shape 5"/>
          <p:cNvSpPr/>
          <p:nvPr/>
        </p:nvSpPr>
        <p:spPr>
          <a:xfrm>
            <a:off x="633984" y="2706624"/>
            <a:ext cx="1341120" cy="390144"/>
          </a:xfrm>
          <a:prstGeom prst="roundRect">
            <a:avLst>
              <a:gd name="adj" fmla="val 12500"/>
            </a:avLst>
          </a:prstGeom>
          <a:solidFill>
            <a:srgbClr val="185FA5"/>
          </a:solidFill>
          <a:ln w="12700">
            <a:solidFill>
              <a:srgbClr val="185FA5"/>
            </a:solidFill>
            <a:prstDash val="solid"/>
          </a:ln>
        </p:spPr>
      </p:sp>
      <p:sp>
        <p:nvSpPr>
          <p:cNvPr id="8" name="Text 6"/>
          <p:cNvSpPr/>
          <p:nvPr/>
        </p:nvSpPr>
        <p:spPr>
          <a:xfrm>
            <a:off x="633984" y="2706624"/>
            <a:ext cx="1341120" cy="390144"/>
          </a:xfrm>
          <a:prstGeom prst="rect">
            <a:avLst/>
          </a:prstGeom>
          <a:noFill/>
          <a:ln/>
        </p:spPr>
        <p:txBody>
          <a:bodyPr wrap="square" rtlCol="0" anchor="ctr"/>
          <a:lstStyle/>
          <a:p>
            <a:pPr algn="ctr"/>
            <a:r>
              <a:rPr lang="en-US" sz="1267" b="1" dirty="0">
                <a:solidFill>
                  <a:srgbClr val="FFFFFF"/>
                </a:solidFill>
              </a:rPr>
              <a:t>SELECT</a:t>
            </a:r>
            <a:endParaRPr lang="en-US" sz="1267" dirty="0"/>
          </a:p>
        </p:txBody>
      </p:sp>
      <p:sp>
        <p:nvSpPr>
          <p:cNvPr id="9" name="Text 7"/>
          <p:cNvSpPr/>
          <p:nvPr/>
        </p:nvSpPr>
        <p:spPr>
          <a:xfrm>
            <a:off x="2097024" y="2731008"/>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Retrieve data from single and multiple tables</a:t>
            </a:r>
            <a:endParaRPr lang="en-US" sz="1333" dirty="0"/>
          </a:p>
        </p:txBody>
      </p:sp>
      <p:sp>
        <p:nvSpPr>
          <p:cNvPr id="10" name="Shape 8"/>
          <p:cNvSpPr/>
          <p:nvPr/>
        </p:nvSpPr>
        <p:spPr>
          <a:xfrm>
            <a:off x="512064" y="3474720"/>
            <a:ext cx="5486400" cy="792480"/>
          </a:xfrm>
          <a:prstGeom prst="roundRect">
            <a:avLst>
              <a:gd name="adj" fmla="val 9231"/>
            </a:avLst>
          </a:prstGeom>
          <a:solidFill>
            <a:srgbClr val="000000"/>
          </a:solidFill>
          <a:ln w="12700">
            <a:solidFill>
              <a:srgbClr val="085041"/>
            </a:solidFill>
            <a:prstDash val="solid"/>
          </a:ln>
        </p:spPr>
      </p:sp>
      <p:sp>
        <p:nvSpPr>
          <p:cNvPr id="11" name="Shape 9"/>
          <p:cNvSpPr/>
          <p:nvPr/>
        </p:nvSpPr>
        <p:spPr>
          <a:xfrm>
            <a:off x="633984" y="3645408"/>
            <a:ext cx="1341120" cy="390144"/>
          </a:xfrm>
          <a:prstGeom prst="roundRect">
            <a:avLst>
              <a:gd name="adj" fmla="val 12500"/>
            </a:avLst>
          </a:prstGeom>
          <a:solidFill>
            <a:srgbClr val="085041"/>
          </a:solidFill>
          <a:ln w="12700">
            <a:solidFill>
              <a:srgbClr val="085041"/>
            </a:solidFill>
            <a:prstDash val="solid"/>
          </a:ln>
        </p:spPr>
      </p:sp>
      <p:sp>
        <p:nvSpPr>
          <p:cNvPr id="12" name="Text 10"/>
          <p:cNvSpPr/>
          <p:nvPr/>
        </p:nvSpPr>
        <p:spPr>
          <a:xfrm>
            <a:off x="633984" y="3645408"/>
            <a:ext cx="1341120" cy="390144"/>
          </a:xfrm>
          <a:prstGeom prst="rect">
            <a:avLst/>
          </a:prstGeom>
          <a:noFill/>
          <a:ln/>
        </p:spPr>
        <p:txBody>
          <a:bodyPr wrap="square" rtlCol="0" anchor="ctr"/>
          <a:lstStyle/>
          <a:p>
            <a:pPr algn="ctr"/>
            <a:r>
              <a:rPr lang="en-US" sz="1267" b="1" dirty="0">
                <a:solidFill>
                  <a:srgbClr val="FFFFFF"/>
                </a:solidFill>
              </a:rPr>
              <a:t>WHERE</a:t>
            </a:r>
            <a:endParaRPr lang="en-US" sz="1267" dirty="0"/>
          </a:p>
        </p:txBody>
      </p:sp>
      <p:sp>
        <p:nvSpPr>
          <p:cNvPr id="13" name="Text 11"/>
          <p:cNvSpPr/>
          <p:nvPr/>
        </p:nvSpPr>
        <p:spPr>
          <a:xfrm>
            <a:off x="2097024" y="3669792"/>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Filter records using conditions and operators</a:t>
            </a:r>
            <a:endParaRPr lang="en-US" sz="1333" dirty="0"/>
          </a:p>
        </p:txBody>
      </p:sp>
      <p:sp>
        <p:nvSpPr>
          <p:cNvPr id="14" name="Shape 12"/>
          <p:cNvSpPr/>
          <p:nvPr/>
        </p:nvSpPr>
        <p:spPr>
          <a:xfrm>
            <a:off x="512064" y="4413504"/>
            <a:ext cx="5486400" cy="792480"/>
          </a:xfrm>
          <a:prstGeom prst="roundRect">
            <a:avLst>
              <a:gd name="adj" fmla="val 9231"/>
            </a:avLst>
          </a:prstGeom>
          <a:solidFill>
            <a:srgbClr val="000000"/>
          </a:solidFill>
          <a:ln w="12700">
            <a:solidFill>
              <a:srgbClr val="185FA5"/>
            </a:solidFill>
            <a:prstDash val="solid"/>
          </a:ln>
        </p:spPr>
      </p:sp>
      <p:sp>
        <p:nvSpPr>
          <p:cNvPr id="15" name="Shape 13"/>
          <p:cNvSpPr/>
          <p:nvPr/>
        </p:nvSpPr>
        <p:spPr>
          <a:xfrm>
            <a:off x="633984" y="4584192"/>
            <a:ext cx="1341120" cy="390144"/>
          </a:xfrm>
          <a:prstGeom prst="roundRect">
            <a:avLst>
              <a:gd name="adj" fmla="val 12500"/>
            </a:avLst>
          </a:prstGeom>
          <a:solidFill>
            <a:srgbClr val="185FA5"/>
          </a:solidFill>
          <a:ln w="12700">
            <a:solidFill>
              <a:srgbClr val="185FA5"/>
            </a:solidFill>
            <a:prstDash val="solid"/>
          </a:ln>
        </p:spPr>
      </p:sp>
      <p:sp>
        <p:nvSpPr>
          <p:cNvPr id="16" name="Text 14"/>
          <p:cNvSpPr/>
          <p:nvPr/>
        </p:nvSpPr>
        <p:spPr>
          <a:xfrm>
            <a:off x="633984" y="4584192"/>
            <a:ext cx="1341120" cy="390144"/>
          </a:xfrm>
          <a:prstGeom prst="rect">
            <a:avLst/>
          </a:prstGeom>
          <a:noFill/>
          <a:ln/>
        </p:spPr>
        <p:txBody>
          <a:bodyPr wrap="square" rtlCol="0" anchor="ctr"/>
          <a:lstStyle/>
          <a:p>
            <a:pPr algn="ctr"/>
            <a:r>
              <a:rPr lang="en-US" sz="1267" b="1" dirty="0">
                <a:solidFill>
                  <a:srgbClr val="FFFFFF"/>
                </a:solidFill>
              </a:rPr>
              <a:t>INNER JOIN</a:t>
            </a:r>
            <a:endParaRPr lang="en-US" sz="1267" dirty="0"/>
          </a:p>
        </p:txBody>
      </p:sp>
      <p:sp>
        <p:nvSpPr>
          <p:cNvPr id="17" name="Text 15"/>
          <p:cNvSpPr/>
          <p:nvPr/>
        </p:nvSpPr>
        <p:spPr>
          <a:xfrm>
            <a:off x="2097024" y="4608576"/>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Combine matching rows from two or more tables</a:t>
            </a:r>
            <a:endParaRPr lang="en-US" sz="1333" dirty="0"/>
          </a:p>
        </p:txBody>
      </p:sp>
      <p:sp>
        <p:nvSpPr>
          <p:cNvPr id="18" name="Shape 16"/>
          <p:cNvSpPr/>
          <p:nvPr/>
        </p:nvSpPr>
        <p:spPr>
          <a:xfrm>
            <a:off x="512064" y="5352288"/>
            <a:ext cx="5486400" cy="792480"/>
          </a:xfrm>
          <a:prstGeom prst="roundRect">
            <a:avLst>
              <a:gd name="adj" fmla="val 9231"/>
            </a:avLst>
          </a:prstGeom>
          <a:solidFill>
            <a:srgbClr val="000000"/>
          </a:solidFill>
          <a:ln w="12700">
            <a:solidFill>
              <a:srgbClr val="085041"/>
            </a:solidFill>
            <a:prstDash val="solid"/>
          </a:ln>
        </p:spPr>
      </p:sp>
      <p:sp>
        <p:nvSpPr>
          <p:cNvPr id="19" name="Shape 17"/>
          <p:cNvSpPr/>
          <p:nvPr/>
        </p:nvSpPr>
        <p:spPr>
          <a:xfrm>
            <a:off x="633984" y="5522976"/>
            <a:ext cx="1341120" cy="390144"/>
          </a:xfrm>
          <a:prstGeom prst="roundRect">
            <a:avLst>
              <a:gd name="adj" fmla="val 12500"/>
            </a:avLst>
          </a:prstGeom>
          <a:solidFill>
            <a:srgbClr val="085041"/>
          </a:solidFill>
          <a:ln w="12700">
            <a:solidFill>
              <a:srgbClr val="085041"/>
            </a:solidFill>
            <a:prstDash val="solid"/>
          </a:ln>
        </p:spPr>
      </p:sp>
      <p:sp>
        <p:nvSpPr>
          <p:cNvPr id="20" name="Text 18"/>
          <p:cNvSpPr/>
          <p:nvPr/>
        </p:nvSpPr>
        <p:spPr>
          <a:xfrm>
            <a:off x="633984" y="5522976"/>
            <a:ext cx="1341120" cy="390144"/>
          </a:xfrm>
          <a:prstGeom prst="rect">
            <a:avLst/>
          </a:prstGeom>
          <a:noFill/>
          <a:ln/>
        </p:spPr>
        <p:txBody>
          <a:bodyPr wrap="square" rtlCol="0" anchor="ctr"/>
          <a:lstStyle/>
          <a:p>
            <a:pPr algn="ctr"/>
            <a:r>
              <a:rPr lang="en-US" sz="1267" b="1" dirty="0">
                <a:solidFill>
                  <a:srgbClr val="FFFFFF"/>
                </a:solidFill>
              </a:rPr>
              <a:t>LEFT JOIN</a:t>
            </a:r>
            <a:endParaRPr lang="en-US" sz="1267" dirty="0"/>
          </a:p>
        </p:txBody>
      </p:sp>
      <p:sp>
        <p:nvSpPr>
          <p:cNvPr id="21" name="Text 19"/>
          <p:cNvSpPr/>
          <p:nvPr/>
        </p:nvSpPr>
        <p:spPr>
          <a:xfrm>
            <a:off x="2097024" y="5547360"/>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All rows from left table, NULLs where no match</a:t>
            </a:r>
            <a:endParaRPr lang="en-US" sz="1333" dirty="0"/>
          </a:p>
        </p:txBody>
      </p:sp>
      <p:sp>
        <p:nvSpPr>
          <p:cNvPr id="22" name="Shape 20"/>
          <p:cNvSpPr/>
          <p:nvPr/>
        </p:nvSpPr>
        <p:spPr>
          <a:xfrm>
            <a:off x="6217920" y="2535936"/>
            <a:ext cx="5486400" cy="792480"/>
          </a:xfrm>
          <a:prstGeom prst="roundRect">
            <a:avLst>
              <a:gd name="adj" fmla="val 9231"/>
            </a:avLst>
          </a:prstGeom>
          <a:solidFill>
            <a:srgbClr val="000000"/>
          </a:solidFill>
          <a:ln w="12700">
            <a:solidFill>
              <a:srgbClr val="185FA5"/>
            </a:solidFill>
            <a:prstDash val="solid"/>
          </a:ln>
        </p:spPr>
      </p:sp>
      <p:sp>
        <p:nvSpPr>
          <p:cNvPr id="23" name="Shape 21"/>
          <p:cNvSpPr/>
          <p:nvPr/>
        </p:nvSpPr>
        <p:spPr>
          <a:xfrm>
            <a:off x="6339840" y="2706624"/>
            <a:ext cx="1341120" cy="390144"/>
          </a:xfrm>
          <a:prstGeom prst="roundRect">
            <a:avLst>
              <a:gd name="adj" fmla="val 12500"/>
            </a:avLst>
          </a:prstGeom>
          <a:solidFill>
            <a:srgbClr val="185FA5"/>
          </a:solidFill>
          <a:ln w="12700">
            <a:solidFill>
              <a:srgbClr val="185FA5"/>
            </a:solidFill>
            <a:prstDash val="solid"/>
          </a:ln>
        </p:spPr>
      </p:sp>
      <p:sp>
        <p:nvSpPr>
          <p:cNvPr id="24" name="Text 22"/>
          <p:cNvSpPr/>
          <p:nvPr/>
        </p:nvSpPr>
        <p:spPr>
          <a:xfrm>
            <a:off x="6339840" y="2706624"/>
            <a:ext cx="1341120" cy="390144"/>
          </a:xfrm>
          <a:prstGeom prst="rect">
            <a:avLst/>
          </a:prstGeom>
          <a:noFill/>
          <a:ln/>
        </p:spPr>
        <p:txBody>
          <a:bodyPr wrap="square" rtlCol="0" anchor="ctr"/>
          <a:lstStyle/>
          <a:p>
            <a:pPr algn="ctr"/>
            <a:r>
              <a:rPr lang="en-US" sz="1267" b="1" dirty="0">
                <a:solidFill>
                  <a:srgbClr val="FFFFFF"/>
                </a:solidFill>
              </a:rPr>
              <a:t>RIGHT JOIN</a:t>
            </a:r>
            <a:endParaRPr lang="en-US" sz="1267" dirty="0"/>
          </a:p>
        </p:txBody>
      </p:sp>
      <p:sp>
        <p:nvSpPr>
          <p:cNvPr id="25" name="Text 23"/>
          <p:cNvSpPr/>
          <p:nvPr/>
        </p:nvSpPr>
        <p:spPr>
          <a:xfrm>
            <a:off x="7802880" y="2731008"/>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All rows from right table, NULLs where no match</a:t>
            </a:r>
            <a:endParaRPr lang="en-US" sz="1333" dirty="0"/>
          </a:p>
        </p:txBody>
      </p:sp>
      <p:sp>
        <p:nvSpPr>
          <p:cNvPr id="26" name="Shape 24"/>
          <p:cNvSpPr/>
          <p:nvPr/>
        </p:nvSpPr>
        <p:spPr>
          <a:xfrm>
            <a:off x="6217920" y="3474720"/>
            <a:ext cx="5486400" cy="792480"/>
          </a:xfrm>
          <a:prstGeom prst="roundRect">
            <a:avLst>
              <a:gd name="adj" fmla="val 9231"/>
            </a:avLst>
          </a:prstGeom>
          <a:solidFill>
            <a:srgbClr val="000000"/>
          </a:solidFill>
          <a:ln w="12700">
            <a:solidFill>
              <a:srgbClr val="085041"/>
            </a:solidFill>
            <a:prstDash val="solid"/>
          </a:ln>
        </p:spPr>
      </p:sp>
      <p:sp>
        <p:nvSpPr>
          <p:cNvPr id="27" name="Shape 25"/>
          <p:cNvSpPr/>
          <p:nvPr/>
        </p:nvSpPr>
        <p:spPr>
          <a:xfrm>
            <a:off x="6339840" y="3645408"/>
            <a:ext cx="1341120" cy="390144"/>
          </a:xfrm>
          <a:prstGeom prst="roundRect">
            <a:avLst>
              <a:gd name="adj" fmla="val 12500"/>
            </a:avLst>
          </a:prstGeom>
          <a:solidFill>
            <a:srgbClr val="085041"/>
          </a:solidFill>
          <a:ln w="12700">
            <a:solidFill>
              <a:srgbClr val="085041"/>
            </a:solidFill>
            <a:prstDash val="solid"/>
          </a:ln>
        </p:spPr>
      </p:sp>
      <p:sp>
        <p:nvSpPr>
          <p:cNvPr id="28" name="Text 26"/>
          <p:cNvSpPr/>
          <p:nvPr/>
        </p:nvSpPr>
        <p:spPr>
          <a:xfrm>
            <a:off x="6339840" y="3645408"/>
            <a:ext cx="1341120" cy="390144"/>
          </a:xfrm>
          <a:prstGeom prst="rect">
            <a:avLst/>
          </a:prstGeom>
          <a:noFill/>
          <a:ln/>
        </p:spPr>
        <p:txBody>
          <a:bodyPr wrap="square" rtlCol="0" anchor="ctr"/>
          <a:lstStyle/>
          <a:p>
            <a:pPr algn="ctr"/>
            <a:r>
              <a:rPr lang="en-US" sz="1267" b="1" dirty="0">
                <a:solidFill>
                  <a:srgbClr val="FFFFFF"/>
                </a:solidFill>
              </a:rPr>
              <a:t>INSERT</a:t>
            </a:r>
            <a:endParaRPr lang="en-US" sz="1267" dirty="0"/>
          </a:p>
        </p:txBody>
      </p:sp>
      <p:sp>
        <p:nvSpPr>
          <p:cNvPr id="29" name="Text 27"/>
          <p:cNvSpPr/>
          <p:nvPr/>
        </p:nvSpPr>
        <p:spPr>
          <a:xfrm>
            <a:off x="7802880" y="3669792"/>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Add two new records to the database</a:t>
            </a:r>
            <a:endParaRPr lang="en-US" sz="1333" dirty="0"/>
          </a:p>
        </p:txBody>
      </p:sp>
      <p:sp>
        <p:nvSpPr>
          <p:cNvPr id="30" name="Shape 28"/>
          <p:cNvSpPr/>
          <p:nvPr/>
        </p:nvSpPr>
        <p:spPr>
          <a:xfrm>
            <a:off x="6217920" y="4413504"/>
            <a:ext cx="5486400" cy="792480"/>
          </a:xfrm>
          <a:prstGeom prst="roundRect">
            <a:avLst>
              <a:gd name="adj" fmla="val 9231"/>
            </a:avLst>
          </a:prstGeom>
          <a:solidFill>
            <a:srgbClr val="000000"/>
          </a:solidFill>
          <a:ln w="12700">
            <a:solidFill>
              <a:srgbClr val="185FA5"/>
            </a:solidFill>
            <a:prstDash val="solid"/>
          </a:ln>
        </p:spPr>
      </p:sp>
      <p:sp>
        <p:nvSpPr>
          <p:cNvPr id="31" name="Shape 29"/>
          <p:cNvSpPr/>
          <p:nvPr/>
        </p:nvSpPr>
        <p:spPr>
          <a:xfrm>
            <a:off x="6339840" y="4584192"/>
            <a:ext cx="1341120" cy="390144"/>
          </a:xfrm>
          <a:prstGeom prst="roundRect">
            <a:avLst>
              <a:gd name="adj" fmla="val 12500"/>
            </a:avLst>
          </a:prstGeom>
          <a:solidFill>
            <a:srgbClr val="185FA5"/>
          </a:solidFill>
          <a:ln w="12700">
            <a:solidFill>
              <a:srgbClr val="185FA5"/>
            </a:solidFill>
            <a:prstDash val="solid"/>
          </a:ln>
        </p:spPr>
      </p:sp>
      <p:sp>
        <p:nvSpPr>
          <p:cNvPr id="32" name="Text 30"/>
          <p:cNvSpPr/>
          <p:nvPr/>
        </p:nvSpPr>
        <p:spPr>
          <a:xfrm>
            <a:off x="6339840" y="4584192"/>
            <a:ext cx="1341120" cy="390144"/>
          </a:xfrm>
          <a:prstGeom prst="rect">
            <a:avLst/>
          </a:prstGeom>
          <a:noFill/>
          <a:ln/>
        </p:spPr>
        <p:txBody>
          <a:bodyPr wrap="square" rtlCol="0" anchor="ctr"/>
          <a:lstStyle/>
          <a:p>
            <a:pPr algn="ctr"/>
            <a:r>
              <a:rPr lang="en-US" sz="1267" b="1" dirty="0">
                <a:solidFill>
                  <a:srgbClr val="FFFFFF"/>
                </a:solidFill>
              </a:rPr>
              <a:t>UPDATE</a:t>
            </a:r>
            <a:endParaRPr lang="en-US" sz="1267" dirty="0"/>
          </a:p>
        </p:txBody>
      </p:sp>
      <p:sp>
        <p:nvSpPr>
          <p:cNvPr id="33" name="Text 31"/>
          <p:cNvSpPr/>
          <p:nvPr/>
        </p:nvSpPr>
        <p:spPr>
          <a:xfrm>
            <a:off x="7802880" y="4608576"/>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Modify two existing records based on conditions</a:t>
            </a:r>
            <a:endParaRPr lang="en-US" sz="1333" dirty="0"/>
          </a:p>
        </p:txBody>
      </p:sp>
      <p:sp>
        <p:nvSpPr>
          <p:cNvPr id="34" name="Shape 32"/>
          <p:cNvSpPr/>
          <p:nvPr/>
        </p:nvSpPr>
        <p:spPr>
          <a:xfrm>
            <a:off x="6217920" y="5352288"/>
            <a:ext cx="5486400" cy="792480"/>
          </a:xfrm>
          <a:prstGeom prst="roundRect">
            <a:avLst>
              <a:gd name="adj" fmla="val 9231"/>
            </a:avLst>
          </a:prstGeom>
          <a:solidFill>
            <a:srgbClr val="000000"/>
          </a:solidFill>
          <a:ln w="12700">
            <a:solidFill>
              <a:srgbClr val="085041"/>
            </a:solidFill>
            <a:prstDash val="solid"/>
          </a:ln>
        </p:spPr>
      </p:sp>
      <p:sp>
        <p:nvSpPr>
          <p:cNvPr id="35" name="Shape 33"/>
          <p:cNvSpPr/>
          <p:nvPr/>
        </p:nvSpPr>
        <p:spPr>
          <a:xfrm>
            <a:off x="6339840" y="5522976"/>
            <a:ext cx="1341120" cy="390144"/>
          </a:xfrm>
          <a:prstGeom prst="roundRect">
            <a:avLst>
              <a:gd name="adj" fmla="val 12500"/>
            </a:avLst>
          </a:prstGeom>
          <a:solidFill>
            <a:srgbClr val="085041"/>
          </a:solidFill>
          <a:ln w="12700">
            <a:solidFill>
              <a:srgbClr val="085041"/>
            </a:solidFill>
            <a:prstDash val="solid"/>
          </a:ln>
        </p:spPr>
      </p:sp>
      <p:sp>
        <p:nvSpPr>
          <p:cNvPr id="36" name="Text 34"/>
          <p:cNvSpPr/>
          <p:nvPr/>
        </p:nvSpPr>
        <p:spPr>
          <a:xfrm>
            <a:off x="6339840" y="5522976"/>
            <a:ext cx="1341120" cy="390144"/>
          </a:xfrm>
          <a:prstGeom prst="rect">
            <a:avLst/>
          </a:prstGeom>
          <a:noFill/>
          <a:ln/>
        </p:spPr>
        <p:txBody>
          <a:bodyPr wrap="square" rtlCol="0" anchor="ctr"/>
          <a:lstStyle/>
          <a:p>
            <a:pPr algn="ctr"/>
            <a:r>
              <a:rPr lang="en-US" sz="1267" b="1" dirty="0">
                <a:solidFill>
                  <a:srgbClr val="FFFFFF"/>
                </a:solidFill>
              </a:rPr>
              <a:t>DELETE</a:t>
            </a:r>
            <a:endParaRPr lang="en-US" sz="1267" dirty="0"/>
          </a:p>
        </p:txBody>
      </p:sp>
      <p:sp>
        <p:nvSpPr>
          <p:cNvPr id="37" name="Text 35"/>
          <p:cNvSpPr/>
          <p:nvPr/>
        </p:nvSpPr>
        <p:spPr>
          <a:xfrm>
            <a:off x="7802880" y="5547360"/>
            <a:ext cx="3779520" cy="365760"/>
          </a:xfrm>
          <a:prstGeom prst="rect">
            <a:avLst/>
          </a:prstGeom>
          <a:noFill/>
          <a:ln/>
        </p:spPr>
        <p:txBody>
          <a:bodyPr wrap="square" rtlCol="0" anchor="ctr"/>
          <a:lstStyle/>
          <a:p>
            <a:r>
              <a:rPr lang="en-US" sz="1333" dirty="0">
                <a:solidFill>
                  <a:srgbClr val="FFFFFF"/>
                </a:solidFill>
                <a:latin typeface="Calibri" pitchFamily="34" charset="0"/>
                <a:ea typeface="Calibri" pitchFamily="34" charset="-122"/>
                <a:cs typeface="Calibri" pitchFamily="34" charset="-120"/>
              </a:rPr>
              <a:t>Remove two records with care and conditions</a:t>
            </a:r>
            <a:endParaRPr lang="en-US" sz="1333"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48201" y="-1640252"/>
            <a:ext cx="5179330" cy="2841829"/>
          </a:xfrm>
          <a:noFill/>
        </p:spPr>
        <p:txBody>
          <a:bodyPr anchor="b">
            <a:normAutofit/>
          </a:bodyPr>
          <a:lstStyle/>
          <a:p>
            <a:r>
              <a:rPr lang="en-US" dirty="0" err="1"/>
              <a:t>Conculsion</a:t>
            </a:r>
            <a:endParaRPr lang="en-US" dirty="0"/>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415313" y="1616567"/>
            <a:ext cx="5179330" cy="4473839"/>
          </a:xfrm>
          <a:noFill/>
        </p:spPr>
        <p:txBody>
          <a:bodyPr>
            <a:normAutofit fontScale="85000" lnSpcReduction="10000"/>
          </a:bodyPr>
          <a:lstStyle/>
          <a:p>
            <a:r>
              <a:rPr lang="en-US" dirty="0"/>
              <a:t>The Hospital Management System was built on three principles, including data integrity, efficiency, and scalability. Normalizing to 3NF across five tables eliminated redundancy and data anomalies. The normalized structure also scales naturally, as new entities can be added without restructuring existing tables, keeping query performance predictable as the system grows.</a:t>
            </a:r>
          </a:p>
          <a:p>
            <a:r>
              <a:rPr lang="en-US" dirty="0"/>
              <a:t>References</a:t>
            </a:r>
          </a:p>
          <a:p>
            <a:r>
              <a:rPr lang="en-US" dirty="0" err="1"/>
              <a:t>Gomstyn</a:t>
            </a:r>
            <a:r>
              <a:rPr lang="en-US" dirty="0"/>
              <a:t>, A., &amp; Jonker, A. (2025, June 16). </a:t>
            </a:r>
            <a:r>
              <a:rPr lang="en-US" i="1" dirty="0"/>
              <a:t>What is database normalization?</a:t>
            </a:r>
            <a:r>
              <a:rPr lang="en-US" dirty="0"/>
              <a:t> IBM. </a:t>
            </a:r>
            <a:r>
              <a:rPr lang="en-US" dirty="0">
                <a:hlinkClick r:id="rId3"/>
              </a:rPr>
              <a:t>https://www.ibm.com/think/topics/database-normalization</a:t>
            </a:r>
            <a:endParaRPr lang="en-US" dirty="0"/>
          </a:p>
          <a:p>
            <a:r>
              <a:rPr lang="en-US" dirty="0" err="1"/>
              <a:t>Keerthisena</a:t>
            </a:r>
            <a:r>
              <a:rPr lang="en-US" dirty="0"/>
              <a:t>, Y. (2026, January 21). </a:t>
            </a:r>
            <a:r>
              <a:rPr lang="en-US" i="1" dirty="0"/>
              <a:t>Cardinality symbols in ER diagrams: Types &amp; notations + free templates</a:t>
            </a:r>
            <a:r>
              <a:rPr lang="en-US" dirty="0"/>
              <a:t>. </a:t>
            </a:r>
            <a:r>
              <a:rPr lang="en-US" dirty="0" err="1"/>
              <a:t>Creately</a:t>
            </a:r>
            <a:r>
              <a:rPr lang="en-US" dirty="0"/>
              <a:t>. </a:t>
            </a:r>
            <a:r>
              <a:rPr lang="en-US" dirty="0">
                <a:hlinkClick r:id="rId4"/>
              </a:rPr>
              <a:t>https://creately.com/guides/cardinality-symbols/</a:t>
            </a:r>
            <a:endParaRPr lang="en-US" dirty="0"/>
          </a:p>
          <a:p>
            <a:r>
              <a:rPr lang="en-US" dirty="0"/>
              <a:t>W3Schools. (n.d.). </a:t>
            </a:r>
            <a:r>
              <a:rPr lang="en-US" i="1" dirty="0"/>
              <a:t>Introduction to SQL</a:t>
            </a:r>
            <a:r>
              <a:rPr lang="en-US" dirty="0"/>
              <a:t>. </a:t>
            </a:r>
            <a:r>
              <a:rPr lang="en-US" dirty="0" err="1"/>
              <a:t>Refsnes</a:t>
            </a:r>
            <a:r>
              <a:rPr lang="en-US" dirty="0"/>
              <a:t> Data. </a:t>
            </a:r>
            <a:r>
              <a:rPr lang="en-US" dirty="0">
                <a:hlinkClick r:id="rId5"/>
              </a:rPr>
              <a:t>https://www.w3schools.com/sql/sql_intro.asp</a:t>
            </a:r>
            <a:endParaRPr lang="en-US" dirty="0"/>
          </a:p>
          <a:p>
            <a:endParaRPr lang="en-US" dirty="0"/>
          </a:p>
          <a:p>
            <a:endParaRPr lang="en-US" dirty="0"/>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6">
            <a:extLst>
              <a:ext uri="{28A0092B-C50C-407E-A947-70E740481C1C}">
                <a14:useLocalDpi xmlns:a14="http://schemas.microsoft.com/office/drawing/2010/main" val="0"/>
              </a:ext>
            </a:extLst>
          </a:blip>
          <a:srcRect t="1" b="1"/>
          <a:stretch/>
        </p:blipFill>
        <p:spPr/>
      </p:pic>
    </p:spTree>
    <p:extLst>
      <p:ext uri="{BB962C8B-B14F-4D97-AF65-F5344CB8AC3E}">
        <p14:creationId xmlns:p14="http://schemas.microsoft.com/office/powerpoint/2010/main" val="254763024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F49CD38-5B57-4682-9FCE-B9174068D0A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261</TotalTime>
  <Words>1422</Words>
  <Application>Microsoft Office PowerPoint</Application>
  <PresentationFormat>Widescreen</PresentationFormat>
  <Paragraphs>125</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Gill Sans MT</vt:lpstr>
      <vt:lpstr>Lato</vt:lpstr>
      <vt:lpstr>Walbaum Display</vt:lpstr>
      <vt:lpstr>Walbaum Display (Headings)</vt:lpstr>
      <vt:lpstr>3DFloatVTI</vt:lpstr>
      <vt:lpstr>Hospital Management System   Presentation by: Turvon Al Weah</vt:lpstr>
      <vt:lpstr>Agenda</vt:lpstr>
      <vt:lpstr>Introduction</vt:lpstr>
      <vt:lpstr>Introduction and Scope of Project</vt:lpstr>
      <vt:lpstr>Development of ER Diagram</vt:lpstr>
      <vt:lpstr>ERD Development </vt:lpstr>
      <vt:lpstr>ERD Development </vt:lpstr>
      <vt:lpstr>Creation of Database</vt:lpstr>
      <vt:lpstr>The Database</vt:lpstr>
      <vt:lpstr>Normalization Process</vt:lpstr>
      <vt:lpstr>PowerPoint Presentation</vt:lpstr>
      <vt:lpstr>Normalized Tables</vt:lpstr>
      <vt:lpstr>SQL Queries</vt:lpstr>
      <vt:lpstr>PowerPoint Presentation</vt:lpstr>
      <vt:lpstr>Conculsion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 Management System   Presentation by: Turvon Al Weah</dc:title>
  <dc:creator>Turvon</dc:creator>
  <cp:lastModifiedBy>Turvon</cp:lastModifiedBy>
  <cp:revision>38</cp:revision>
  <dcterms:created xsi:type="dcterms:W3CDTF">2026-05-21T19:00:17Z</dcterms:created>
  <dcterms:modified xsi:type="dcterms:W3CDTF">2026-05-24T20:48:30Z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